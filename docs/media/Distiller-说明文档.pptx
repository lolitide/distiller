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5" r:id="rId6"/>
    <p:sldId id="266" r:id="rId7"/>
    <p:sldId id="267" r:id="rId8"/>
    <p:sldId id="268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7FE"/>
    <a:srgbClr val="F3F8FE"/>
    <a:srgbClr val="FFFFFF"/>
    <a:srgbClr val="D9DFFF"/>
    <a:srgbClr val="EBF1FF"/>
    <a:srgbClr val="F8BE1D"/>
    <a:srgbClr val="08A8F6"/>
    <a:srgbClr val="9DC0E3"/>
    <a:srgbClr val="E6F6FE"/>
    <a:srgbClr val="329A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63" autoAdjust="0"/>
    <p:restoredTop sz="94737" autoAdjust="0"/>
  </p:normalViewPr>
  <p:slideViewPr>
    <p:cSldViewPr snapToGrid="0" showGuides="1">
      <p:cViewPr>
        <p:scale>
          <a:sx n="100" d="100"/>
          <a:sy n="100" d="100"/>
        </p:scale>
        <p:origin x="1013" y="43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CE6E62-0A4A-440F-A3A0-1904151E0F67}" type="datetimeFigureOut">
              <a:rPr lang="zh-CN" altLang="en-US" smtClean="0"/>
              <a:t>2026/10/31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5C4DF4-6413-405D-8311-20A510DC5E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C4DF4-6413-405D-8311-20A510DC5EF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17282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0AAF4-8BAF-87D6-0B86-6D8D21523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B349B27-B841-A5A5-405A-D7C3648248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669F5A-1A6D-81BD-6A5A-B579132BBD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8766A3-F325-D791-EB5D-25BADA527D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C4DF4-6413-405D-8311-20A510DC5EF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9760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C0B32-565F-C968-595A-43C8BE6C3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D107602-5ADE-43F0-D8D8-BB7A263522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F6874D7-89AF-10C2-4081-825FE3E308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7BE825-6DB0-559F-DD85-ADC3EEED8D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C4DF4-6413-405D-8311-20A510DC5EF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638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928BF-F6DE-72B2-A0B0-CEC6A85F7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8B1AB80-B3AA-6BCF-BBA3-2EBA309390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4C8CB0A-F069-6BA0-CFC2-1459D0D4AC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AAA2B7-3F9F-953A-91A7-3B74AC809E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C4DF4-6413-405D-8311-20A510DC5EF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3397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45429-E8A6-B0D4-08C1-6136F24EC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4A1BA1-6DEA-5B9B-F7A8-A5075EB7ED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EF872DC-0566-6E9A-1109-4458074186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782572-8B45-BD96-6CF8-E519D0A5C9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C4DF4-6413-405D-8311-20A510DC5EF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71206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C4DF4-6413-405D-8311-20A510DC5EFC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3" name="图片 7" descr="基金会+OH logo组合-0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710" y="304165"/>
            <a:ext cx="3564890" cy="1234440"/>
          </a:xfrm>
          <a:prstGeom prst="rect">
            <a:avLst/>
          </a:prstGeom>
        </p:spPr>
      </p:pic>
      <p:grpSp>
        <p:nvGrpSpPr>
          <p:cNvPr id="4" name="组合 13"/>
          <p:cNvGrpSpPr/>
          <p:nvPr userDrawn="1"/>
        </p:nvGrpSpPr>
        <p:grpSpPr>
          <a:xfrm>
            <a:off x="9906635" y="6367145"/>
            <a:ext cx="2199640" cy="344805"/>
            <a:chOff x="15601" y="10027"/>
            <a:chExt cx="3464" cy="543"/>
          </a:xfrm>
        </p:grpSpPr>
        <p:sp>
          <p:nvSpPr>
            <p:cNvPr id="5" name="文本框 14"/>
            <p:cNvSpPr txBox="1"/>
            <p:nvPr userDrawn="1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 defTabSz="914400" rtl="0" eaLnBrk="1" latinLnBrk="0" hangingPunct="1">
                <a:lnSpc>
                  <a:spcPct val="130000"/>
                </a:lnSpc>
              </a:pPr>
              <a:r>
                <a:rPr lang="zh-CN" altLang="en-US" sz="1400" kern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/>
            </a:p>
          </p:txBody>
        </p:sp>
        <p:cxnSp>
          <p:nvCxnSpPr>
            <p:cNvPr id="6" name="直接连接符 15"/>
            <p:cNvCxnSpPr/>
            <p:nvPr userDrawn="1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F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1"/>
          <p:cNvPicPr>
            <a:picLocks noChangeAspect="1"/>
          </p:cNvPicPr>
          <p:nvPr userDrawn="1"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46126" y="0"/>
            <a:ext cx="4151671" cy="5794408"/>
          </a:xfrm>
          <a:prstGeom prst="rect">
            <a:avLst/>
          </a:prstGeom>
        </p:spPr>
      </p:pic>
      <p:grpSp>
        <p:nvGrpSpPr>
          <p:cNvPr id="9" name="组合 2"/>
          <p:cNvGrpSpPr/>
          <p:nvPr userDrawn="1"/>
        </p:nvGrpSpPr>
        <p:grpSpPr>
          <a:xfrm>
            <a:off x="9763201" y="6305810"/>
            <a:ext cx="2199640" cy="344805"/>
            <a:chOff x="15601" y="10027"/>
            <a:chExt cx="3464" cy="543"/>
          </a:xfrm>
        </p:grpSpPr>
        <p:sp>
          <p:nvSpPr>
            <p:cNvPr id="10" name="文本框 3"/>
            <p:cNvSpPr txBox="1"/>
            <p:nvPr userDrawn="1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 defTabSz="914400" rtl="0" eaLnBrk="1" latinLnBrk="0" hangingPunct="1">
                <a:lnSpc>
                  <a:spcPct val="130000"/>
                </a:lnSpc>
              </a:pPr>
              <a:r>
                <a:rPr lang="zh-CN" altLang="en-US" sz="1400" kern="1200" dirty="0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/>
            </a:p>
          </p:txBody>
        </p:sp>
        <p:cxnSp>
          <p:nvCxnSpPr>
            <p:cNvPr id="11" name="直接连接符 15"/>
            <p:cNvCxnSpPr/>
            <p:nvPr userDrawn="1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12" name="图片 9"/>
          <p:cNvPicPr>
            <a:picLocks noChangeAspect="1"/>
          </p:cNvPicPr>
          <p:nvPr userDrawn="1"/>
        </p:nvPicPr>
        <p:blipFill>
          <a:blip r:embed="rId3" cstate="print">
            <a:alphaModFix amt="2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261146"/>
            <a:ext cx="2999678" cy="4133416"/>
          </a:xfrm>
          <a:prstGeom prst="rect">
            <a:avLst/>
          </a:prstGeom>
        </p:spPr>
      </p:pic>
      <p:pic>
        <p:nvPicPr>
          <p:cNvPr id="13" name="图片 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73" y="0"/>
            <a:ext cx="3483086" cy="13061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45008" y="6356350"/>
            <a:ext cx="274320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bg>
      <p:bgPr>
        <a:solidFill>
          <a:srgbClr val="08A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13"/>
          <p:cNvGrpSpPr/>
          <p:nvPr userDrawn="1"/>
        </p:nvGrpSpPr>
        <p:grpSpPr>
          <a:xfrm>
            <a:off x="9763201" y="6305810"/>
            <a:ext cx="2199640" cy="344805"/>
            <a:chOff x="15601" y="10027"/>
            <a:chExt cx="3464" cy="543"/>
          </a:xfrm>
        </p:grpSpPr>
        <p:sp>
          <p:nvSpPr>
            <p:cNvPr id="25" name="文本框 14"/>
            <p:cNvSpPr txBox="1"/>
            <p:nvPr userDrawn="1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 defTabSz="914400" rtl="0" eaLnBrk="1" latinLnBrk="0" hangingPunct="1">
                <a:lnSpc>
                  <a:spcPct val="130000"/>
                </a:lnSpc>
              </a:pPr>
              <a:r>
                <a:rPr lang="zh-CN" altLang="en-US" sz="1400" kern="1200" dirty="0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/>
            </a:p>
          </p:txBody>
        </p:sp>
        <p:cxnSp>
          <p:nvCxnSpPr>
            <p:cNvPr id="26" name="直接连接符 15"/>
            <p:cNvCxnSpPr/>
            <p:nvPr userDrawn="1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8" name="文本占位符 9"/>
          <p:cNvSpPr>
            <a:spLocks noGrp="1"/>
          </p:cNvSpPr>
          <p:nvPr>
            <p:ph type="body" sz="quarter" idx="13"/>
          </p:nvPr>
        </p:nvSpPr>
        <p:spPr>
          <a:xfrm>
            <a:off x="215067" y="171415"/>
            <a:ext cx="5966068" cy="4461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CN" altLang="en-US"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/>
              <a:t>单击此处编辑母版文本</a:t>
            </a:r>
            <a:endParaRPr/>
          </a:p>
        </p:txBody>
      </p:sp>
      <p:pic>
        <p:nvPicPr>
          <p:cNvPr id="29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8425" y="0"/>
            <a:ext cx="2350420" cy="881407"/>
          </a:xfrm>
          <a:prstGeom prst="rect">
            <a:avLst/>
          </a:prstGeom>
        </p:spPr>
      </p:pic>
      <p:sp>
        <p:nvSpPr>
          <p:cNvPr id="30" name="矩形 3"/>
          <p:cNvSpPr/>
          <p:nvPr userDrawn="1"/>
        </p:nvSpPr>
        <p:spPr>
          <a:xfrm>
            <a:off x="0" y="0"/>
            <a:ext cx="12192000" cy="781177"/>
          </a:xfrm>
          <a:prstGeom prst="rect">
            <a:avLst/>
          </a:prstGeom>
          <a:solidFill>
            <a:srgbClr val="08A8F6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33" name="图片 3"/>
          <p:cNvPicPr>
            <a:picLocks noChangeAspect="1"/>
          </p:cNvPicPr>
          <p:nvPr userDrawn="1"/>
        </p:nvPicPr>
        <p:blipFill rotWithShape="1">
          <a:blip r:embed="rId2" cstate="print">
            <a:alphaModFix amt="35000"/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82780" y="1381934"/>
            <a:ext cx="3830533" cy="4165580"/>
          </a:xfrm>
          <a:prstGeom prst="rect">
            <a:avLst/>
          </a:prstGeom>
        </p:spPr>
      </p:pic>
      <p:grpSp>
        <p:nvGrpSpPr>
          <p:cNvPr id="34" name="组合 5"/>
          <p:cNvGrpSpPr/>
          <p:nvPr userDrawn="1"/>
        </p:nvGrpSpPr>
        <p:grpSpPr>
          <a:xfrm>
            <a:off x="9763201" y="6305810"/>
            <a:ext cx="2199640" cy="344805"/>
            <a:chOff x="15601" y="10027"/>
            <a:chExt cx="3464" cy="543"/>
          </a:xfrm>
        </p:grpSpPr>
        <p:sp>
          <p:nvSpPr>
            <p:cNvPr id="35" name="文本框 10"/>
            <p:cNvSpPr txBox="1"/>
            <p:nvPr userDrawn="1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 defTabSz="914400" rtl="0" eaLnBrk="1" latinLnBrk="0" hangingPunct="1">
                <a:lnSpc>
                  <a:spcPct val="130000"/>
                </a:lnSpc>
              </a:pPr>
              <a:r>
                <a:rPr lang="zh-CN" altLang="en-US" sz="1400" kern="1200" dirty="0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/>
            </a:p>
          </p:txBody>
        </p:sp>
        <p:cxnSp>
          <p:nvCxnSpPr>
            <p:cNvPr id="36" name="直接连接符 15"/>
            <p:cNvCxnSpPr/>
            <p:nvPr userDrawn="1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37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78" y="0"/>
            <a:ext cx="2350420" cy="8814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40" name="组合 1"/>
          <p:cNvGrpSpPr/>
          <p:nvPr userDrawn="1"/>
        </p:nvGrpSpPr>
        <p:grpSpPr>
          <a:xfrm>
            <a:off x="9763201" y="6305810"/>
            <a:ext cx="2199640" cy="344805"/>
            <a:chOff x="15601" y="10027"/>
            <a:chExt cx="3464" cy="543"/>
          </a:xfrm>
        </p:grpSpPr>
        <p:sp>
          <p:nvSpPr>
            <p:cNvPr id="41" name="文本框 2"/>
            <p:cNvSpPr txBox="1"/>
            <p:nvPr userDrawn="1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 defTabSz="914400" rtl="0" eaLnBrk="1" latinLnBrk="0" hangingPunct="1">
                <a:lnSpc>
                  <a:spcPct val="130000"/>
                </a:lnSpc>
              </a:pPr>
              <a:r>
                <a:rPr lang="zh-CN" altLang="en-US" sz="1400" kern="1200" dirty="0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/>
            </a:p>
          </p:txBody>
        </p:sp>
        <p:cxnSp>
          <p:nvCxnSpPr>
            <p:cNvPr id="42" name="直接连接符 15"/>
            <p:cNvCxnSpPr/>
            <p:nvPr userDrawn="1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43" name="矩形 9"/>
          <p:cNvSpPr/>
          <p:nvPr userDrawn="1"/>
        </p:nvSpPr>
        <p:spPr>
          <a:xfrm>
            <a:off x="456565" y="1199515"/>
            <a:ext cx="1210588" cy="707886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marL="0" marR="0" lvl="0" indent="0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8A8F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目录</a:t>
            </a:r>
            <a:endParaRPr/>
          </a:p>
        </p:txBody>
      </p:sp>
      <p:sp>
        <p:nvSpPr>
          <p:cNvPr id="44" name="文本框 10"/>
          <p:cNvSpPr txBox="1"/>
          <p:nvPr userDrawn="1"/>
        </p:nvSpPr>
        <p:spPr>
          <a:xfrm>
            <a:off x="481965" y="576640"/>
            <a:ext cx="41249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1"/>
              </a:spcBef>
              <a:spcAft>
                <a:spcPct val="1"/>
              </a:spcAft>
              <a:defRPr/>
            </a:pPr>
            <a:r>
              <a:rPr lang="en-US" altLang="zh-CN" sz="32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800000000000000" charset="-122"/>
              </a:rPr>
              <a:t>CONTENTS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47" name="组合 5"/>
          <p:cNvGrpSpPr/>
          <p:nvPr userDrawn="1"/>
        </p:nvGrpSpPr>
        <p:grpSpPr>
          <a:xfrm>
            <a:off x="9906635" y="6367145"/>
            <a:ext cx="2199640" cy="344805"/>
            <a:chOff x="15601" y="10027"/>
            <a:chExt cx="3464" cy="543"/>
          </a:xfrm>
        </p:grpSpPr>
        <p:sp>
          <p:nvSpPr>
            <p:cNvPr id="48" name="文本框 6"/>
            <p:cNvSpPr txBox="1"/>
            <p:nvPr userDrawn="1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 defTabSz="914400" rtl="0" eaLnBrk="1" latinLnBrk="0" hangingPunct="1">
                <a:lnSpc>
                  <a:spcPct val="130000"/>
                </a:lnSpc>
              </a:pPr>
              <a:r>
                <a:rPr lang="zh-CN" altLang="en-US" sz="1400" kern="1200" dirty="0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/>
            </a:p>
          </p:txBody>
        </p:sp>
        <p:cxnSp>
          <p:nvCxnSpPr>
            <p:cNvPr id="49" name="直接连接符 7"/>
            <p:cNvCxnSpPr/>
            <p:nvPr userDrawn="1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A6F9"/>
            </a:gs>
            <a:gs pos="100000">
              <a:srgbClr val="81BD0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Source Han Sans CN Normal" panose="020B0800000000000000" charset="-122"/>
                <a:ea typeface="Source Han Sans CN Normal" panose="020B0800000000000000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15.jpe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7.png"/><Relationship Id="rId4" Type="http://schemas.openxmlformats.org/officeDocument/2006/relationships/image" Target="../media/image16.jpe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19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jpeg"/><Relationship Id="rId5" Type="http://schemas.openxmlformats.org/officeDocument/2006/relationships/image" Target="../media/image10.svg"/><Relationship Id="rId4" Type="http://schemas.openxmlformats.org/officeDocument/2006/relationships/image" Target="../media/image20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2.jpe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sv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26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/>
          <p:cNvSpPr txBox="1"/>
          <p:nvPr/>
        </p:nvSpPr>
        <p:spPr>
          <a:xfrm>
            <a:off x="3417888" y="5226665"/>
            <a:ext cx="5356225" cy="701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瘫坐眩晕椅子核弹爆炸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algn="ctr"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  2026.10.27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sp>
        <p:nvSpPr>
          <p:cNvPr id="3" name="文本框 6"/>
          <p:cNvSpPr txBox="1"/>
          <p:nvPr/>
        </p:nvSpPr>
        <p:spPr>
          <a:xfrm>
            <a:off x="1908747" y="1852426"/>
            <a:ext cx="83745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1"/>
              </a:spcBef>
              <a:spcAft>
                <a:spcPct val="1"/>
              </a:spcAft>
              <a:defRPr/>
            </a:pPr>
            <a:r>
              <a:rPr lang="en-US" altLang="zh-CN" sz="48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800000000000000" charset="-122"/>
              </a:rPr>
              <a:t>OH</a:t>
            </a:r>
            <a:r>
              <a:rPr lang="zh-CN" altLang="en-US" sz="48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800000000000000" charset="-122"/>
              </a:rPr>
              <a:t>创新大赛赛道三作品提交</a:t>
            </a:r>
            <a:endParaRPr lang="en-US" altLang="zh-CN" sz="4800" b="1" dirty="0">
              <a:solidFill>
                <a:srgbClr val="08A8F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ans CN Bold" panose="020B0800000000000000" charset="-122"/>
            </a:endParaRPr>
          </a:p>
        </p:txBody>
      </p:sp>
      <p:sp>
        <p:nvSpPr>
          <p:cNvPr id="4" name="文本框 10"/>
          <p:cNvSpPr txBox="1"/>
          <p:nvPr/>
        </p:nvSpPr>
        <p:spPr>
          <a:xfrm>
            <a:off x="3232175" y="2868089"/>
            <a:ext cx="5727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1"/>
              </a:spcBef>
              <a:spcAft>
                <a:spcPct val="1"/>
              </a:spcAft>
              <a:defRPr/>
            </a:pPr>
            <a:r>
              <a:rPr lang="zh-CN" altLang="en-US" sz="2800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800000000000000" charset="-122"/>
              </a:rPr>
              <a:t>知了：校园信息助手</a:t>
            </a:r>
            <a:endParaRPr lang="en-US" altLang="zh-CN" sz="2800" dirty="0">
              <a:solidFill>
                <a:srgbClr val="08A8F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ans CN Bold" panose="020B08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26"/>
          <p:cNvSpPr/>
          <p:nvPr/>
        </p:nvSpPr>
        <p:spPr>
          <a:xfrm>
            <a:off x="2741964" y="2138212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/>
          </a:p>
        </p:txBody>
      </p:sp>
      <p:sp>
        <p:nvSpPr>
          <p:cNvPr id="7" name="圆角矩形 27"/>
          <p:cNvSpPr/>
          <p:nvPr/>
        </p:nvSpPr>
        <p:spPr>
          <a:xfrm>
            <a:off x="3585244" y="3076107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rtlCol="0" anchor="ctr" anchorCtr="0"/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Regular" panose="020B0503020204020204" charset="-122"/>
                <a:sym typeface="+mn-ea"/>
              </a:rPr>
              <a:t>应用核心功能</a:t>
            </a:r>
            <a:endParaRPr lang="en-US" altLang="zh-CN" sz="2400" b="1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 Regular" panose="020B0503020204020204" charset="-122"/>
              <a:sym typeface="+mn-ea"/>
            </a:endParaRPr>
          </a:p>
        </p:txBody>
      </p:sp>
      <p:sp>
        <p:nvSpPr>
          <p:cNvPr id="8" name="圆角矩形 28"/>
          <p:cNvSpPr/>
          <p:nvPr/>
        </p:nvSpPr>
        <p:spPr>
          <a:xfrm>
            <a:off x="2734344" y="3063407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/>
          </a:p>
        </p:txBody>
      </p:sp>
      <p:sp>
        <p:nvSpPr>
          <p:cNvPr id="9" name="圆角矩形 29"/>
          <p:cNvSpPr/>
          <p:nvPr/>
        </p:nvSpPr>
        <p:spPr>
          <a:xfrm>
            <a:off x="3585244" y="4001302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rtlCol="0" anchor="ctr" anchorCtr="0"/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Regular" panose="020B0503020204020204" charset="-122"/>
                <a:sym typeface="+mn-ea"/>
              </a:rPr>
              <a:t>创新性</a:t>
            </a:r>
            <a:endParaRPr lang="en-US" altLang="zh-CN" sz="2400" b="1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 Regular" panose="020B0503020204020204" charset="-122"/>
              <a:sym typeface="+mn-ea"/>
            </a:endParaRPr>
          </a:p>
        </p:txBody>
      </p:sp>
      <p:sp>
        <p:nvSpPr>
          <p:cNvPr id="10" name="圆角矩形 30"/>
          <p:cNvSpPr/>
          <p:nvPr/>
        </p:nvSpPr>
        <p:spPr>
          <a:xfrm>
            <a:off x="2734344" y="3988602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/>
          </a:p>
        </p:txBody>
      </p:sp>
      <p:sp>
        <p:nvSpPr>
          <p:cNvPr id="11" name="圆角矩形 44"/>
          <p:cNvSpPr/>
          <p:nvPr/>
        </p:nvSpPr>
        <p:spPr>
          <a:xfrm>
            <a:off x="3597944" y="2138212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rtlCol="0" anchor="ctr" anchorCtr="0"/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Regular" panose="020B0503020204020204" charset="-122"/>
                <a:sym typeface="+mn-ea"/>
              </a:rPr>
              <a:t>创作简介</a:t>
            </a:r>
            <a:endParaRPr lang="en-US" altLang="zh-CN" sz="24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Regular" panose="020B0503020204020204" charset="-122"/>
              <a:sym typeface="+mn-ea"/>
            </a:endParaRPr>
          </a:p>
        </p:txBody>
      </p:sp>
      <p:sp>
        <p:nvSpPr>
          <p:cNvPr id="12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13" name="圆角矩形 29"/>
          <p:cNvSpPr/>
          <p:nvPr/>
        </p:nvSpPr>
        <p:spPr>
          <a:xfrm>
            <a:off x="3597944" y="4913797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rtlCol="0" anchor="ctr" anchorCtr="0"/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 Regular" panose="020B0503020204020204" charset="-122"/>
                <a:sym typeface="+mn-ea"/>
              </a:rPr>
              <a:t>商业价值</a:t>
            </a:r>
            <a:endParaRPr lang="en-US" altLang="zh-CN" sz="2400" b="1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 Regular" panose="020B0503020204020204" charset="-122"/>
              <a:sym typeface="+mn-ea"/>
            </a:endParaRPr>
          </a:p>
        </p:txBody>
      </p:sp>
      <p:sp>
        <p:nvSpPr>
          <p:cNvPr id="14" name="圆角矩形 30"/>
          <p:cNvSpPr/>
          <p:nvPr/>
        </p:nvSpPr>
        <p:spPr>
          <a:xfrm>
            <a:off x="2747044" y="4901097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95815" y="200290"/>
            <a:ext cx="5966068" cy="446134"/>
          </a:xfrm>
        </p:spPr>
        <p:txBody>
          <a:bodyPr anchor="ctr"/>
          <a:lstStyle/>
          <a:p>
            <a:r>
              <a:rPr kumimoji="1" lang="zh-CN" altLang="en-US" dirty="0"/>
              <a:t>创作简介</a:t>
            </a:r>
            <a:endParaRPr kumimoji="1"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4"/>
          <p:cNvSpPr txBox="1"/>
          <p:nvPr/>
        </p:nvSpPr>
        <p:spPr>
          <a:xfrm>
            <a:off x="681316" y="3350628"/>
            <a:ext cx="8446059" cy="1421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为什么做这款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APP</a:t>
            </a:r>
          </a:p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大学群聊里真正有用的通知、作业、活动和截止时间，常被海量闲聊淹没；看到了也容易忘，回头翻群又费时间。知了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APP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把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QQ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群消息整理成可确认、可提醒的待办，并自动排进时间线，让学生少漏事、少翻群、少焦虑。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sp>
        <p:nvSpPr>
          <p:cNvPr id="19" name="文本框 4"/>
          <p:cNvSpPr txBox="1"/>
          <p:nvPr/>
        </p:nvSpPr>
        <p:spPr>
          <a:xfrm>
            <a:off x="681316" y="4934805"/>
            <a:ext cx="5561542" cy="781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应用一句话亮点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知了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——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把群聊里的重要消息，变成不会忘的校园待办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。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sp>
        <p:nvSpPr>
          <p:cNvPr id="20" name="文本框 4"/>
          <p:cNvSpPr txBox="1"/>
          <p:nvPr/>
        </p:nvSpPr>
        <p:spPr>
          <a:xfrm>
            <a:off x="681316" y="806188"/>
            <a:ext cx="8516472" cy="2381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团队简介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队长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			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谢忠宇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团队成员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			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谢忠宇、杜俊廷、袁正琨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学校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			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西安交通大学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专业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			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计算机科学与技术（三名成员同校同专业）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指导老师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			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谢涛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联络人手机号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&amp;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微信号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	13617861368   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xzy-sh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95815" y="200290"/>
            <a:ext cx="5966068" cy="446134"/>
          </a:xfrm>
        </p:spPr>
        <p:txBody>
          <a:bodyPr anchor="ctr"/>
          <a:lstStyle/>
          <a:p>
            <a:r>
              <a:rPr kumimoji="1"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应用核心功能</a:t>
            </a:r>
            <a:endParaRPr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F98CC28-667F-20A6-BF31-99D70C6FA964}"/>
              </a:ext>
            </a:extLst>
          </p:cNvPr>
          <p:cNvGrpSpPr/>
          <p:nvPr/>
        </p:nvGrpSpPr>
        <p:grpSpPr>
          <a:xfrm>
            <a:off x="858363" y="1054228"/>
            <a:ext cx="10607040" cy="1027179"/>
            <a:chOff x="858363" y="1221971"/>
            <a:chExt cx="10607040" cy="1027179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FFFF77D2-67CB-D23F-FD08-B46C3849AE24}"/>
                </a:ext>
              </a:extLst>
            </p:cNvPr>
            <p:cNvSpPr/>
            <p:nvPr/>
          </p:nvSpPr>
          <p:spPr>
            <a:xfrm>
              <a:off x="858363" y="1221971"/>
              <a:ext cx="10607040" cy="1027179"/>
            </a:xfrm>
            <a:prstGeom prst="roundRect">
              <a:avLst/>
            </a:prstGeom>
            <a:solidFill>
              <a:srgbClr val="E6F6F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3"/>
            <p:cNvSpPr txBox="1"/>
            <p:nvPr/>
          </p:nvSpPr>
          <p:spPr>
            <a:xfrm>
              <a:off x="1162435" y="1371439"/>
              <a:ext cx="5910717" cy="7013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lnSpc>
                  <a:spcPct val="130000"/>
                </a:lnSpc>
                <a:spcBef>
                  <a:spcPct val="1"/>
                </a:spcBef>
                <a:spcAft>
                  <a:spcPct val="1"/>
                </a:spcAft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Source Han Sans CN Regular" panose="020B0800000000000000" charset="-122"/>
                </a:rPr>
                <a:t>从群聊直接生成待办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endParaRPr>
            </a:p>
            <a:p>
              <a:pPr fontAlgn="base">
                <a:lnSpc>
                  <a:spcPct val="130000"/>
                </a:lnSpc>
                <a:spcBef>
                  <a:spcPct val="1"/>
                </a:spcBef>
                <a:spcAft>
                  <a:spcPct val="1"/>
                </a:spcAft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Source Han Sans CN Regular" panose="020B0800000000000000" charset="-122"/>
                </a:rPr>
                <a:t>遇见通知转发给 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Source Han Sans CN Regular" panose="020B0800000000000000" charset="-122"/>
                </a:rPr>
                <a:t>Bot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Source Han Sans CN Regular" panose="020B0800000000000000" charset="-122"/>
                </a:rPr>
                <a:t>，消息自动进知了，不用手抄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0E76FA67-5D68-E424-2B16-F38D31914001}"/>
              </a:ext>
            </a:extLst>
          </p:cNvPr>
          <p:cNvGrpSpPr/>
          <p:nvPr/>
        </p:nvGrpSpPr>
        <p:grpSpPr>
          <a:xfrm>
            <a:off x="9578127" y="1134909"/>
            <a:ext cx="1451438" cy="865816"/>
            <a:chOff x="9673521" y="1113964"/>
            <a:chExt cx="1451438" cy="865816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F7849E4C-564B-23B1-F008-D08D5D402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59143" y="1113964"/>
              <a:ext cx="865816" cy="865816"/>
            </a:xfrm>
            <a:prstGeom prst="rect">
              <a:avLst/>
            </a:prstGeom>
          </p:spPr>
        </p:pic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179734B6-3577-7222-2F55-8DBB38BCC6F8}"/>
                </a:ext>
              </a:extLst>
            </p:cNvPr>
            <p:cNvSpPr/>
            <p:nvPr/>
          </p:nvSpPr>
          <p:spPr>
            <a:xfrm>
              <a:off x="9673521" y="1222205"/>
              <a:ext cx="585622" cy="473311"/>
            </a:xfrm>
            <a:custGeom>
              <a:avLst/>
              <a:gdLst>
                <a:gd name="csX0" fmla="*/ 585623 w 585622"/>
                <a:gd name="csY0" fmla="*/ 192534 h 473311"/>
                <a:gd name="csX1" fmla="*/ 356187 w 585622"/>
                <a:gd name="csY1" fmla="*/ 0 h 473311"/>
                <a:gd name="csX2" fmla="*/ 356187 w 585622"/>
                <a:gd name="csY2" fmla="*/ 112311 h 473311"/>
                <a:gd name="csX3" fmla="*/ 0 w 585622"/>
                <a:gd name="csY3" fmla="*/ 473312 h 473311"/>
                <a:gd name="csX4" fmla="*/ 356187 w 585622"/>
                <a:gd name="csY4" fmla="*/ 280778 h 473311"/>
                <a:gd name="csX5" fmla="*/ 356187 w 585622"/>
                <a:gd name="csY5" fmla="*/ 385067 h 473311"/>
                <a:gd name="csX6" fmla="*/ 585623 w 585622"/>
                <a:gd name="csY6" fmla="*/ 192534 h 4733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85622" h="473311">
                  <a:moveTo>
                    <a:pt x="585623" y="192534"/>
                  </a:moveTo>
                  <a:lnTo>
                    <a:pt x="356187" y="0"/>
                  </a:lnTo>
                  <a:lnTo>
                    <a:pt x="356187" y="112311"/>
                  </a:lnTo>
                  <a:cubicBezTo>
                    <a:pt x="4813" y="115520"/>
                    <a:pt x="0" y="473312"/>
                    <a:pt x="0" y="473312"/>
                  </a:cubicBezTo>
                  <a:cubicBezTo>
                    <a:pt x="0" y="473312"/>
                    <a:pt x="74607" y="283185"/>
                    <a:pt x="356187" y="280778"/>
                  </a:cubicBezTo>
                  <a:lnTo>
                    <a:pt x="356187" y="385067"/>
                  </a:lnTo>
                  <a:lnTo>
                    <a:pt x="585623" y="192534"/>
                  </a:lnTo>
                  <a:close/>
                </a:path>
              </a:pathLst>
            </a:custGeom>
            <a:solidFill>
              <a:srgbClr val="0087FE"/>
            </a:solidFill>
            <a:ln w="7938" cap="flat">
              <a:noFill/>
              <a:prstDash val="solid"/>
              <a:miter/>
            </a:ln>
          </p:spPr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4A3ED3F-D228-953D-A9F3-45C133930D66}"/>
              </a:ext>
            </a:extLst>
          </p:cNvPr>
          <p:cNvGrpSpPr/>
          <p:nvPr/>
        </p:nvGrpSpPr>
        <p:grpSpPr>
          <a:xfrm>
            <a:off x="858363" y="5152693"/>
            <a:ext cx="10607040" cy="1027179"/>
            <a:chOff x="858363" y="1221971"/>
            <a:chExt cx="10607040" cy="1027179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93BD171B-A685-FDB5-FC2F-6C3D64563AA3}"/>
                </a:ext>
              </a:extLst>
            </p:cNvPr>
            <p:cNvSpPr/>
            <p:nvPr/>
          </p:nvSpPr>
          <p:spPr>
            <a:xfrm>
              <a:off x="858363" y="1221971"/>
              <a:ext cx="10607040" cy="1027179"/>
            </a:xfrm>
            <a:prstGeom prst="roundRect">
              <a:avLst/>
            </a:prstGeom>
            <a:solidFill>
              <a:srgbClr val="E6F6F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3">
              <a:extLst>
                <a:ext uri="{FF2B5EF4-FFF2-40B4-BE49-F238E27FC236}">
                  <a16:creationId xmlns:a16="http://schemas.microsoft.com/office/drawing/2014/main" id="{056D72B4-2A53-32CB-4E0A-B8C369A79AFF}"/>
                </a:ext>
              </a:extLst>
            </p:cNvPr>
            <p:cNvSpPr txBox="1"/>
            <p:nvPr/>
          </p:nvSpPr>
          <p:spPr>
            <a:xfrm>
              <a:off x="4724401" y="1384887"/>
              <a:ext cx="6349252" cy="7013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fontAlgn="base">
                <a:lnSpc>
                  <a:spcPct val="130000"/>
                </a:lnSpc>
                <a:spcBef>
                  <a:spcPct val="1"/>
                </a:spcBef>
                <a:spcAft>
                  <a:spcPct val="1"/>
                </a:spcAft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列表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甘特双模式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 fontAlgn="base">
                <a:lnSpc>
                  <a:spcPct val="130000"/>
                </a:lnSpc>
                <a:spcBef>
                  <a:spcPct val="1"/>
                </a:spcBef>
                <a:spcAft>
                  <a:spcPct val="1"/>
                </a:spcAft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同一任务既能按天看，也能在甘特时间轴看跨度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15CE25E9-3A62-F1C9-D90A-AA74204DE6B1}"/>
              </a:ext>
            </a:extLst>
          </p:cNvPr>
          <p:cNvGrpSpPr/>
          <p:nvPr/>
        </p:nvGrpSpPr>
        <p:grpSpPr>
          <a:xfrm>
            <a:off x="858363" y="3786538"/>
            <a:ext cx="10607040" cy="1027179"/>
            <a:chOff x="858363" y="1221971"/>
            <a:chExt cx="10607040" cy="1027179"/>
          </a:xfrm>
        </p:grpSpPr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5B6ACB1A-32F4-07F3-5AB6-EA02D59E4F4D}"/>
                </a:ext>
              </a:extLst>
            </p:cNvPr>
            <p:cNvSpPr/>
            <p:nvPr/>
          </p:nvSpPr>
          <p:spPr>
            <a:xfrm>
              <a:off x="858363" y="1221971"/>
              <a:ext cx="10607040" cy="1027179"/>
            </a:xfrm>
            <a:prstGeom prst="roundRect">
              <a:avLst/>
            </a:prstGeom>
            <a:solidFill>
              <a:srgbClr val="E6F6F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文本框 3">
              <a:extLst>
                <a:ext uri="{FF2B5EF4-FFF2-40B4-BE49-F238E27FC236}">
                  <a16:creationId xmlns:a16="http://schemas.microsoft.com/office/drawing/2014/main" id="{E83868D1-19F1-519C-C7E6-6A067B15CA87}"/>
                </a:ext>
              </a:extLst>
            </p:cNvPr>
            <p:cNvSpPr txBox="1"/>
            <p:nvPr/>
          </p:nvSpPr>
          <p:spPr>
            <a:xfrm>
              <a:off x="1162435" y="1371439"/>
              <a:ext cx="5910717" cy="7013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lnSpc>
                  <a:spcPct val="130000"/>
                </a:lnSpc>
                <a:spcBef>
                  <a:spcPct val="1"/>
                </a:spcBef>
                <a:spcAft>
                  <a:spcPct val="1"/>
                </a:spcAft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确认后才成待办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fontAlgn="base">
                <a:lnSpc>
                  <a:spcPct val="130000"/>
                </a:lnSpc>
                <a:spcBef>
                  <a:spcPct val="1"/>
                </a:spcBef>
                <a:spcAft>
                  <a:spcPct val="1"/>
                </a:spcAft>
              </a:pP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AI 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只给草稿，用户点“保留”才落库，避免误建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F88D59B2-9DB6-4CA3-E46B-0FAB907B7AE7}"/>
              </a:ext>
            </a:extLst>
          </p:cNvPr>
          <p:cNvGrpSpPr/>
          <p:nvPr/>
        </p:nvGrpSpPr>
        <p:grpSpPr>
          <a:xfrm>
            <a:off x="858363" y="2420383"/>
            <a:ext cx="10607040" cy="1027179"/>
            <a:chOff x="858363" y="1221971"/>
            <a:chExt cx="10607040" cy="1027179"/>
          </a:xfrm>
        </p:grpSpPr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93E71A2B-6C83-B28A-9DC7-E4EFAE4B4082}"/>
                </a:ext>
              </a:extLst>
            </p:cNvPr>
            <p:cNvSpPr/>
            <p:nvPr/>
          </p:nvSpPr>
          <p:spPr>
            <a:xfrm>
              <a:off x="858363" y="1221971"/>
              <a:ext cx="10607040" cy="1027179"/>
            </a:xfrm>
            <a:prstGeom prst="roundRect">
              <a:avLst/>
            </a:prstGeom>
            <a:solidFill>
              <a:srgbClr val="E6F6F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文本框 3">
              <a:extLst>
                <a:ext uri="{FF2B5EF4-FFF2-40B4-BE49-F238E27FC236}">
                  <a16:creationId xmlns:a16="http://schemas.microsoft.com/office/drawing/2014/main" id="{7159A038-1F43-75F3-9963-74B69DA62FA4}"/>
                </a:ext>
              </a:extLst>
            </p:cNvPr>
            <p:cNvSpPr txBox="1"/>
            <p:nvPr/>
          </p:nvSpPr>
          <p:spPr>
            <a:xfrm>
              <a:off x="4724401" y="1384887"/>
              <a:ext cx="6349252" cy="7013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fontAlgn="base">
                <a:lnSpc>
                  <a:spcPct val="130000"/>
                </a:lnSpc>
                <a:spcBef>
                  <a:spcPct val="1"/>
                </a:spcBef>
                <a:spcAft>
                  <a:spcPct val="1"/>
                </a:spcAft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订阅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Q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群后 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AI 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筛集信息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 fontAlgn="base">
                <a:lnSpc>
                  <a:spcPct val="130000"/>
                </a:lnSpc>
                <a:spcBef>
                  <a:spcPct val="1"/>
                </a:spcBef>
                <a:spcAft>
                  <a:spcPct val="1"/>
                </a:spcAft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轻模型先滤闲聊，重模型再提炼时间 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 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地点 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 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步骤，短通知也不漏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36C194D-A9D2-CB4A-ADDA-6F1299B5271E}"/>
              </a:ext>
            </a:extLst>
          </p:cNvPr>
          <p:cNvGrpSpPr/>
          <p:nvPr/>
        </p:nvGrpSpPr>
        <p:grpSpPr>
          <a:xfrm>
            <a:off x="1162435" y="2338125"/>
            <a:ext cx="2915284" cy="1191694"/>
            <a:chOff x="1162435" y="2378739"/>
            <a:chExt cx="2915284" cy="1191694"/>
          </a:xfrm>
        </p:grpSpPr>
        <p:pic>
          <p:nvPicPr>
            <p:cNvPr id="19" name="图形 18" descr="聊天 RTL">
              <a:extLst>
                <a:ext uri="{FF2B5EF4-FFF2-40B4-BE49-F238E27FC236}">
                  <a16:creationId xmlns:a16="http://schemas.microsoft.com/office/drawing/2014/main" id="{F91F3271-9954-0F41-F870-32457E6B6FE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3178849" y="2542454"/>
              <a:ext cx="898870" cy="864263"/>
            </a:xfrm>
            <a:prstGeom prst="rect">
              <a:avLst/>
            </a:prstGeom>
          </p:spPr>
        </p:pic>
        <p:pic>
          <p:nvPicPr>
            <p:cNvPr id="21" name="图形 20" descr="聊天">
              <a:extLst>
                <a:ext uri="{FF2B5EF4-FFF2-40B4-BE49-F238E27FC236}">
                  <a16:creationId xmlns:a16="http://schemas.microsoft.com/office/drawing/2014/main" id="{9C5A448E-7AF9-BAA7-1991-32FEC094992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flipH="1">
              <a:off x="1162435" y="2378739"/>
              <a:ext cx="1180330" cy="1191694"/>
            </a:xfrm>
            <a:prstGeom prst="rect">
              <a:avLst/>
            </a:prstGeom>
          </p:spPr>
        </p:pic>
        <p:pic>
          <p:nvPicPr>
            <p:cNvPr id="26" name="图形 25" descr="箭头轻微弯曲">
              <a:extLst>
                <a:ext uri="{FF2B5EF4-FFF2-40B4-BE49-F238E27FC236}">
                  <a16:creationId xmlns:a16="http://schemas.microsoft.com/office/drawing/2014/main" id="{20869AB6-0EA0-240B-E7C5-FF224EC5AAB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342765" y="2733651"/>
              <a:ext cx="754387" cy="754387"/>
            </a:xfrm>
            <a:prstGeom prst="rect">
              <a:avLst/>
            </a:prstGeom>
          </p:spPr>
        </p:pic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60A78518-8E14-E4FB-12F0-8D7017D94FA8}"/>
              </a:ext>
            </a:extLst>
          </p:cNvPr>
          <p:cNvGrpSpPr/>
          <p:nvPr/>
        </p:nvGrpSpPr>
        <p:grpSpPr>
          <a:xfrm>
            <a:off x="1118347" y="5209082"/>
            <a:ext cx="1828800" cy="914400"/>
            <a:chOff x="1118347" y="5173264"/>
            <a:chExt cx="1828800" cy="914400"/>
          </a:xfrm>
        </p:grpSpPr>
        <p:pic>
          <p:nvPicPr>
            <p:cNvPr id="63" name="图形 62" descr="条形图 RTL">
              <a:extLst>
                <a:ext uri="{FF2B5EF4-FFF2-40B4-BE49-F238E27FC236}">
                  <a16:creationId xmlns:a16="http://schemas.microsoft.com/office/drawing/2014/main" id="{9161FA63-4AB1-301A-C40F-9394BD21894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5400000">
              <a:off x="2032747" y="5173264"/>
              <a:ext cx="914400" cy="914400"/>
            </a:xfrm>
            <a:prstGeom prst="rect">
              <a:avLst/>
            </a:prstGeom>
          </p:spPr>
        </p:pic>
        <p:pic>
          <p:nvPicPr>
            <p:cNvPr id="65" name="图形 64" descr="日历">
              <a:extLst>
                <a:ext uri="{FF2B5EF4-FFF2-40B4-BE49-F238E27FC236}">
                  <a16:creationId xmlns:a16="http://schemas.microsoft.com/office/drawing/2014/main" id="{8136590F-FF2E-B0A6-FABC-5A72CC4F710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18347" y="5173264"/>
              <a:ext cx="914400" cy="914400"/>
            </a:xfrm>
            <a:prstGeom prst="rect">
              <a:avLst/>
            </a:prstGeom>
          </p:spPr>
        </p:pic>
      </p:grpSp>
      <p:pic>
        <p:nvPicPr>
          <p:cNvPr id="27" name="图形 26" descr="聊天 RTL">
            <a:extLst>
              <a:ext uri="{FF2B5EF4-FFF2-40B4-BE49-F238E27FC236}">
                <a16:creationId xmlns:a16="http://schemas.microsoft.com/office/drawing/2014/main" id="{52A59570-4CE4-D0E1-1998-24705FDC09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9228812" y="1619366"/>
            <a:ext cx="428602" cy="412102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414CF121-23B9-B15A-71C9-F7FCC2004551}"/>
              </a:ext>
            </a:extLst>
          </p:cNvPr>
          <p:cNvGrpSpPr/>
          <p:nvPr/>
        </p:nvGrpSpPr>
        <p:grpSpPr>
          <a:xfrm>
            <a:off x="9185138" y="3841863"/>
            <a:ext cx="1957222" cy="914400"/>
            <a:chOff x="9120927" y="3841863"/>
            <a:chExt cx="1957222" cy="914400"/>
          </a:xfrm>
        </p:grpSpPr>
        <p:pic>
          <p:nvPicPr>
            <p:cNvPr id="58" name="图形 57" descr="列表">
              <a:extLst>
                <a:ext uri="{FF2B5EF4-FFF2-40B4-BE49-F238E27FC236}">
                  <a16:creationId xmlns:a16="http://schemas.microsoft.com/office/drawing/2014/main" id="{50B67C01-10DB-DC32-7CFD-3B1C5053A2B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120927" y="3843991"/>
              <a:ext cx="750011" cy="750011"/>
            </a:xfrm>
            <a:prstGeom prst="rect">
              <a:avLst/>
            </a:prstGeom>
          </p:spPr>
        </p:pic>
        <p:pic>
          <p:nvPicPr>
            <p:cNvPr id="60" name="图形 59" descr="清单">
              <a:extLst>
                <a:ext uri="{FF2B5EF4-FFF2-40B4-BE49-F238E27FC236}">
                  <a16:creationId xmlns:a16="http://schemas.microsoft.com/office/drawing/2014/main" id="{15ED784D-9833-C693-EFD1-408E73CCA51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163749" y="3841863"/>
              <a:ext cx="914400" cy="914400"/>
            </a:xfrm>
            <a:prstGeom prst="rect">
              <a:avLst/>
            </a:prstGeom>
          </p:spPr>
        </p:pic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08CE7EB3-485C-10BE-8807-53C6862250F6}"/>
                </a:ext>
              </a:extLst>
            </p:cNvPr>
            <p:cNvSpPr/>
            <p:nvPr/>
          </p:nvSpPr>
          <p:spPr>
            <a:xfrm flipV="1">
              <a:off x="9736203" y="4230548"/>
              <a:ext cx="585622" cy="473311"/>
            </a:xfrm>
            <a:custGeom>
              <a:avLst/>
              <a:gdLst>
                <a:gd name="csX0" fmla="*/ 585623 w 585622"/>
                <a:gd name="csY0" fmla="*/ 192534 h 473311"/>
                <a:gd name="csX1" fmla="*/ 356187 w 585622"/>
                <a:gd name="csY1" fmla="*/ 0 h 473311"/>
                <a:gd name="csX2" fmla="*/ 356187 w 585622"/>
                <a:gd name="csY2" fmla="*/ 112311 h 473311"/>
                <a:gd name="csX3" fmla="*/ 0 w 585622"/>
                <a:gd name="csY3" fmla="*/ 473312 h 473311"/>
                <a:gd name="csX4" fmla="*/ 356187 w 585622"/>
                <a:gd name="csY4" fmla="*/ 280778 h 473311"/>
                <a:gd name="csX5" fmla="*/ 356187 w 585622"/>
                <a:gd name="csY5" fmla="*/ 385067 h 473311"/>
                <a:gd name="csX6" fmla="*/ 585623 w 585622"/>
                <a:gd name="csY6" fmla="*/ 192534 h 4733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85622" h="473311">
                  <a:moveTo>
                    <a:pt x="585623" y="192534"/>
                  </a:moveTo>
                  <a:lnTo>
                    <a:pt x="356187" y="0"/>
                  </a:lnTo>
                  <a:lnTo>
                    <a:pt x="356187" y="112311"/>
                  </a:lnTo>
                  <a:cubicBezTo>
                    <a:pt x="4813" y="115520"/>
                    <a:pt x="0" y="473312"/>
                    <a:pt x="0" y="473312"/>
                  </a:cubicBezTo>
                  <a:cubicBezTo>
                    <a:pt x="0" y="473312"/>
                    <a:pt x="74607" y="283185"/>
                    <a:pt x="356187" y="280778"/>
                  </a:cubicBezTo>
                  <a:lnTo>
                    <a:pt x="356187" y="385067"/>
                  </a:lnTo>
                  <a:lnTo>
                    <a:pt x="585623" y="192534"/>
                  </a:lnTo>
                  <a:close/>
                </a:path>
              </a:pathLst>
            </a:custGeom>
            <a:solidFill>
              <a:srgbClr val="0087FE"/>
            </a:solidFill>
            <a:ln w="7938" cap="flat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5FFFF-8B8C-D936-311C-B4B0D6097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1">
            <a:extLst>
              <a:ext uri="{FF2B5EF4-FFF2-40B4-BE49-F238E27FC236}">
                <a16:creationId xmlns:a16="http://schemas.microsoft.com/office/drawing/2014/main" id="{EB246D1D-D439-F050-514B-42F067BDC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占位符 2">
            <a:extLst>
              <a:ext uri="{FF2B5EF4-FFF2-40B4-BE49-F238E27FC236}">
                <a16:creationId xmlns:a16="http://schemas.microsoft.com/office/drawing/2014/main" id="{D2364E8C-3BAD-1DAB-AE52-EA554F6659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5815" y="200290"/>
            <a:ext cx="5966068" cy="446134"/>
          </a:xfrm>
        </p:spPr>
        <p:txBody>
          <a:bodyPr anchor="ctr"/>
          <a:lstStyle/>
          <a:p>
            <a:r>
              <a:rPr kumimoji="1"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应用核心功能</a:t>
            </a:r>
            <a:endParaRPr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3AE7C5A-F480-261F-21FE-9F797F592BEC}"/>
              </a:ext>
            </a:extLst>
          </p:cNvPr>
          <p:cNvSpPr txBox="1"/>
          <p:nvPr/>
        </p:nvSpPr>
        <p:spPr>
          <a:xfrm>
            <a:off x="3944924" y="2678174"/>
            <a:ext cx="95410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b="1" dirty="0">
                <a:solidFill>
                  <a:srgbClr val="0087FE">
                    <a:alpha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</a:t>
            </a:r>
            <a:endParaRPr lang="en-US" altLang="zh-CN" sz="6000" b="1" dirty="0">
              <a:solidFill>
                <a:srgbClr val="0087FE">
                  <a:alpha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6000" b="1" dirty="0">
                <a:solidFill>
                  <a:srgbClr val="0087FE">
                    <a:alpha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43E8AC2-D202-7CAA-F1FF-A1A3A817960A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72451" y="2329831"/>
            <a:ext cx="3276215" cy="3778709"/>
          </a:xfrm>
          <a:prstGeom prst="roundRect">
            <a:avLst>
              <a:gd name="adj" fmla="val 5563"/>
            </a:avLst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D789D3E2-6974-0681-3787-995C712985E8}"/>
              </a:ext>
            </a:extLst>
          </p:cNvPr>
          <p:cNvSpPr txBox="1"/>
          <p:nvPr/>
        </p:nvSpPr>
        <p:spPr>
          <a:xfrm>
            <a:off x="7438824" y="2678174"/>
            <a:ext cx="95410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b="1" dirty="0">
                <a:solidFill>
                  <a:srgbClr val="0087FE">
                    <a:alpha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</a:t>
            </a:r>
            <a:endParaRPr lang="en-US" altLang="zh-CN" sz="6000" b="1" dirty="0">
              <a:solidFill>
                <a:srgbClr val="0087FE">
                  <a:alpha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6000" b="1" dirty="0">
                <a:solidFill>
                  <a:srgbClr val="0087FE">
                    <a:alpha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469E0FF-B82E-3DFE-2707-0468B5E219BD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89189" y="2329831"/>
            <a:ext cx="3276214" cy="3778708"/>
          </a:xfrm>
          <a:prstGeom prst="roundRect">
            <a:avLst>
              <a:gd name="adj" fmla="val 8720"/>
            </a:avLst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E899D45-49E6-FE49-A73B-AEC62110F0C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2410" y="3820591"/>
            <a:ext cx="1027179" cy="1027179"/>
          </a:xfrm>
          <a:prstGeom prst="roundRect">
            <a:avLst>
              <a:gd name="adj" fmla="val 22410"/>
            </a:avLst>
          </a:prstGeom>
          <a:ln>
            <a:noFill/>
          </a:ln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2DC65490-0936-7B15-B975-8F578114C1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6274" y="5458912"/>
            <a:ext cx="1080000" cy="1080000"/>
          </a:xfrm>
          <a:prstGeom prst="roundRect">
            <a:avLst>
              <a:gd name="adj" fmla="val 22942"/>
            </a:avLst>
          </a:prstGeom>
          <a:ln>
            <a:solidFill>
              <a:schemeClr val="bg2">
                <a:lumMod val="65000"/>
              </a:schemeClr>
            </a:solidFill>
          </a:ln>
        </p:spPr>
      </p:pic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6DDAA2D-ECD0-3EC7-6165-700C9AE33DEE}"/>
              </a:ext>
            </a:extLst>
          </p:cNvPr>
          <p:cNvSpPr/>
          <p:nvPr/>
        </p:nvSpPr>
        <p:spPr>
          <a:xfrm>
            <a:off x="7627863" y="5458912"/>
            <a:ext cx="1080000" cy="1080000"/>
          </a:xfrm>
          <a:prstGeom prst="roundRect">
            <a:avLst>
              <a:gd name="adj" fmla="val 23950"/>
            </a:avLst>
          </a:prstGeom>
          <a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形 24" descr="箭头轻微弯曲">
            <a:extLst>
              <a:ext uri="{FF2B5EF4-FFF2-40B4-BE49-F238E27FC236}">
                <a16:creationId xmlns:a16="http://schemas.microsoft.com/office/drawing/2014/main" id="{A337435A-7A79-A96E-7728-002D3FCD15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9372856" flipV="1">
            <a:off x="4444446" y="4642237"/>
            <a:ext cx="1229697" cy="869181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9A5D4BFC-54BE-1D81-6BE6-66953E780A6F}"/>
              </a:ext>
            </a:extLst>
          </p:cNvPr>
          <p:cNvSpPr txBox="1"/>
          <p:nvPr/>
        </p:nvSpPr>
        <p:spPr>
          <a:xfrm>
            <a:off x="5584129" y="3349434"/>
            <a:ext cx="10237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0087F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BOT</a:t>
            </a:r>
            <a:r>
              <a:rPr lang="zh-CN" altLang="en-US" sz="1600" b="1" dirty="0">
                <a:solidFill>
                  <a:srgbClr val="0087F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收集</a:t>
            </a:r>
            <a:endParaRPr lang="en-US" altLang="zh-CN" sz="1600" b="1" dirty="0">
              <a:solidFill>
                <a:srgbClr val="0087F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9FAC79B1-DEB0-4DFE-C7CA-5E5E1DF67D37}"/>
              </a:ext>
            </a:extLst>
          </p:cNvPr>
          <p:cNvGrpSpPr/>
          <p:nvPr/>
        </p:nvGrpSpPr>
        <p:grpSpPr>
          <a:xfrm>
            <a:off x="858363" y="1054228"/>
            <a:ext cx="10607040" cy="1027179"/>
            <a:chOff x="858363" y="1221971"/>
            <a:chExt cx="10607040" cy="1027179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1BFB592F-92BA-4E53-5B73-8F1CB429F60E}"/>
                </a:ext>
              </a:extLst>
            </p:cNvPr>
            <p:cNvSpPr/>
            <p:nvPr/>
          </p:nvSpPr>
          <p:spPr>
            <a:xfrm>
              <a:off x="858363" y="1221971"/>
              <a:ext cx="10607040" cy="1027179"/>
            </a:xfrm>
            <a:prstGeom prst="roundRect">
              <a:avLst/>
            </a:prstGeom>
            <a:solidFill>
              <a:srgbClr val="E6F6F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3">
              <a:extLst>
                <a:ext uri="{FF2B5EF4-FFF2-40B4-BE49-F238E27FC236}">
                  <a16:creationId xmlns:a16="http://schemas.microsoft.com/office/drawing/2014/main" id="{FAC5F6FA-93BA-0F26-EBBD-E755E5D34912}"/>
                </a:ext>
              </a:extLst>
            </p:cNvPr>
            <p:cNvSpPr txBox="1"/>
            <p:nvPr/>
          </p:nvSpPr>
          <p:spPr>
            <a:xfrm>
              <a:off x="1284676" y="1381512"/>
              <a:ext cx="591071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spcBef>
                  <a:spcPct val="1"/>
                </a:spcBef>
                <a:spcAft>
                  <a:spcPct val="1"/>
                </a:spcAft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Source Han Sans CN Regular" panose="020B0800000000000000" charset="-122"/>
                </a:rPr>
                <a:t>群消息转待办</a:t>
              </a:r>
              <a:endPara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endParaRPr>
            </a:p>
            <a:p>
              <a:pPr fontAlgn="base">
                <a:spcBef>
                  <a:spcPct val="1"/>
                </a:spcBef>
                <a:spcAft>
                  <a:spcPct val="1"/>
                </a:spcAft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Source Han Sans CN Regular" panose="020B0800000000000000" charset="-122"/>
                </a:rPr>
                <a:t>通知转发给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Source Han Sans CN Regular" panose="020B0800000000000000" charset="-122"/>
                </a:rPr>
                <a:t>bot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Source Han Sans CN Regular" panose="020B0800000000000000" charset="-122"/>
                </a:rPr>
                <a:t>，自动整理为待办传到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Source Han Sans CN Regular" panose="020B0800000000000000" charset="-122"/>
                </a:rPr>
                <a:t>APP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976531AD-B1EB-0354-D99B-C793807957A0}"/>
              </a:ext>
            </a:extLst>
          </p:cNvPr>
          <p:cNvGrpSpPr/>
          <p:nvPr/>
        </p:nvGrpSpPr>
        <p:grpSpPr>
          <a:xfrm>
            <a:off x="9578127" y="1134909"/>
            <a:ext cx="1451438" cy="865816"/>
            <a:chOff x="9673521" y="1113964"/>
            <a:chExt cx="1451438" cy="865816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AB5886A9-DA5B-12CB-B0E3-1689847B606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59143" y="1113964"/>
              <a:ext cx="865816" cy="865816"/>
            </a:xfrm>
            <a:prstGeom prst="rect">
              <a:avLst/>
            </a:prstGeom>
          </p:spPr>
        </p:pic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959DB245-9B5E-0BEE-FE48-B1A0C8567C33}"/>
                </a:ext>
              </a:extLst>
            </p:cNvPr>
            <p:cNvSpPr/>
            <p:nvPr/>
          </p:nvSpPr>
          <p:spPr>
            <a:xfrm>
              <a:off x="9673521" y="1222205"/>
              <a:ext cx="585622" cy="473311"/>
            </a:xfrm>
            <a:custGeom>
              <a:avLst/>
              <a:gdLst>
                <a:gd name="csX0" fmla="*/ 585623 w 585622"/>
                <a:gd name="csY0" fmla="*/ 192534 h 473311"/>
                <a:gd name="csX1" fmla="*/ 356187 w 585622"/>
                <a:gd name="csY1" fmla="*/ 0 h 473311"/>
                <a:gd name="csX2" fmla="*/ 356187 w 585622"/>
                <a:gd name="csY2" fmla="*/ 112311 h 473311"/>
                <a:gd name="csX3" fmla="*/ 0 w 585622"/>
                <a:gd name="csY3" fmla="*/ 473312 h 473311"/>
                <a:gd name="csX4" fmla="*/ 356187 w 585622"/>
                <a:gd name="csY4" fmla="*/ 280778 h 473311"/>
                <a:gd name="csX5" fmla="*/ 356187 w 585622"/>
                <a:gd name="csY5" fmla="*/ 385067 h 473311"/>
                <a:gd name="csX6" fmla="*/ 585623 w 585622"/>
                <a:gd name="csY6" fmla="*/ 192534 h 4733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85622" h="473311">
                  <a:moveTo>
                    <a:pt x="585623" y="192534"/>
                  </a:moveTo>
                  <a:lnTo>
                    <a:pt x="356187" y="0"/>
                  </a:lnTo>
                  <a:lnTo>
                    <a:pt x="356187" y="112311"/>
                  </a:lnTo>
                  <a:cubicBezTo>
                    <a:pt x="4813" y="115520"/>
                    <a:pt x="0" y="473312"/>
                    <a:pt x="0" y="473312"/>
                  </a:cubicBezTo>
                  <a:cubicBezTo>
                    <a:pt x="0" y="473312"/>
                    <a:pt x="74607" y="283185"/>
                    <a:pt x="356187" y="280778"/>
                  </a:cubicBezTo>
                  <a:lnTo>
                    <a:pt x="356187" y="385067"/>
                  </a:lnTo>
                  <a:lnTo>
                    <a:pt x="585623" y="192534"/>
                  </a:lnTo>
                  <a:close/>
                </a:path>
              </a:pathLst>
            </a:custGeom>
            <a:solidFill>
              <a:srgbClr val="0087FE"/>
            </a:solidFill>
            <a:ln w="7938" cap="flat">
              <a:noFill/>
              <a:prstDash val="solid"/>
              <a:miter/>
            </a:ln>
          </p:spPr>
        </p:sp>
      </p:grpSp>
      <p:pic>
        <p:nvPicPr>
          <p:cNvPr id="16" name="图形 15" descr="聊天 RTL">
            <a:extLst>
              <a:ext uri="{FF2B5EF4-FFF2-40B4-BE49-F238E27FC236}">
                <a16:creationId xmlns:a16="http://schemas.microsoft.com/office/drawing/2014/main" id="{E936A95B-78EB-98F7-C511-352F03F43C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flipH="1">
            <a:off x="9228812" y="1619366"/>
            <a:ext cx="428602" cy="412102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AC649D05-17B0-23AD-E8D2-318B804E22D3}"/>
              </a:ext>
            </a:extLst>
          </p:cNvPr>
          <p:cNvSpPr txBox="1"/>
          <p:nvPr/>
        </p:nvSpPr>
        <p:spPr>
          <a:xfrm>
            <a:off x="921824" y="1065744"/>
            <a:ext cx="48122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1</a:t>
            </a:r>
            <a:endParaRPr lang="zh-CN" altLang="en-US" sz="6000" dirty="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pic>
        <p:nvPicPr>
          <p:cNvPr id="19" name="图形 18" descr="箭头轻微弯曲">
            <a:extLst>
              <a:ext uri="{FF2B5EF4-FFF2-40B4-BE49-F238E27FC236}">
                <a16:creationId xmlns:a16="http://schemas.microsoft.com/office/drawing/2014/main" id="{6FCF9AA0-D6D9-3D70-65F6-91C2837B4C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3626700" flipH="1">
            <a:off x="6435329" y="4652121"/>
            <a:ext cx="1229697" cy="869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354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824CA-A289-40A8-5DD7-57DB04540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图片 48">
            <a:extLst>
              <a:ext uri="{FF2B5EF4-FFF2-40B4-BE49-F238E27FC236}">
                <a16:creationId xmlns:a16="http://schemas.microsoft.com/office/drawing/2014/main" id="{6C933F17-CD22-9D6D-D43E-3F59250E0E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854" y="2229432"/>
            <a:ext cx="3253497" cy="3889722"/>
          </a:xfrm>
          <a:prstGeom prst="roundRect">
            <a:avLst>
              <a:gd name="adj" fmla="val 4773"/>
            </a:avLst>
          </a:prstGeom>
        </p:spPr>
      </p:pic>
      <p:sp>
        <p:nvSpPr>
          <p:cNvPr id="22" name="灯片编号占位符 1">
            <a:extLst>
              <a:ext uri="{FF2B5EF4-FFF2-40B4-BE49-F238E27FC236}">
                <a16:creationId xmlns:a16="http://schemas.microsoft.com/office/drawing/2014/main" id="{22D36A82-6AFF-3C56-98BE-93122F244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占位符 2">
            <a:extLst>
              <a:ext uri="{FF2B5EF4-FFF2-40B4-BE49-F238E27FC236}">
                <a16:creationId xmlns:a16="http://schemas.microsoft.com/office/drawing/2014/main" id="{B92EEE79-B130-ECD2-DDE8-70C7D81D6E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5815" y="200290"/>
            <a:ext cx="5966068" cy="446134"/>
          </a:xfrm>
        </p:spPr>
        <p:txBody>
          <a:bodyPr anchor="ctr"/>
          <a:lstStyle/>
          <a:p>
            <a:r>
              <a:rPr kumimoji="1"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应用核心功能</a:t>
            </a:r>
            <a:endParaRPr/>
          </a:p>
        </p:txBody>
      </p:sp>
      <p:pic>
        <p:nvPicPr>
          <p:cNvPr id="16" name="图形 15" descr="云">
            <a:extLst>
              <a:ext uri="{FF2B5EF4-FFF2-40B4-BE49-F238E27FC236}">
                <a16:creationId xmlns:a16="http://schemas.microsoft.com/office/drawing/2014/main" id="{2C51D934-B567-BCDB-5F01-78F2F0A7E4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33788" y="3826139"/>
            <a:ext cx="688102" cy="688102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C3EAFEE4-3DE6-E401-F74D-42FA9A51FCAA}"/>
              </a:ext>
            </a:extLst>
          </p:cNvPr>
          <p:cNvSpPr txBox="1"/>
          <p:nvPr/>
        </p:nvSpPr>
        <p:spPr>
          <a:xfrm>
            <a:off x="4813691" y="4358162"/>
            <a:ext cx="10606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Qwen3.5 4b</a:t>
            </a:r>
            <a:endParaRPr lang="zh-CN" altLang="en-US" sz="1200" dirty="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pic>
        <p:nvPicPr>
          <p:cNvPr id="21" name="图形 20" descr="箭头轻微弯曲">
            <a:extLst>
              <a:ext uri="{FF2B5EF4-FFF2-40B4-BE49-F238E27FC236}">
                <a16:creationId xmlns:a16="http://schemas.microsoft.com/office/drawing/2014/main" id="{354104F8-0CDD-3E8A-20A8-A35E9932FF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684085">
            <a:off x="3794179" y="4009997"/>
            <a:ext cx="1092129" cy="630901"/>
          </a:xfrm>
          <a:prstGeom prst="rect">
            <a:avLst/>
          </a:prstGeom>
        </p:spPr>
      </p:pic>
      <p:pic>
        <p:nvPicPr>
          <p:cNvPr id="24" name="图形 23" descr="箭头轻微弯曲">
            <a:extLst>
              <a:ext uri="{FF2B5EF4-FFF2-40B4-BE49-F238E27FC236}">
                <a16:creationId xmlns:a16="http://schemas.microsoft.com/office/drawing/2014/main" id="{9851AFF4-0C5B-F3CB-19A2-A859A3CCDA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034904">
            <a:off x="3542959" y="4728936"/>
            <a:ext cx="1558248" cy="769281"/>
          </a:xfrm>
          <a:prstGeom prst="rect">
            <a:avLst/>
          </a:prstGeom>
        </p:spPr>
      </p:pic>
      <p:pic>
        <p:nvPicPr>
          <p:cNvPr id="25" name="图形 24" descr="云">
            <a:extLst>
              <a:ext uri="{FF2B5EF4-FFF2-40B4-BE49-F238E27FC236}">
                <a16:creationId xmlns:a16="http://schemas.microsoft.com/office/drawing/2014/main" id="{FEC35767-BB3D-B5D6-F81A-4C26C46EA0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83977" y="3429000"/>
            <a:ext cx="1257784" cy="1333374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D5E6FF49-E455-ECDC-F6F2-9981C52477F0}"/>
              </a:ext>
            </a:extLst>
          </p:cNvPr>
          <p:cNvSpPr txBox="1"/>
          <p:nvPr/>
        </p:nvSpPr>
        <p:spPr>
          <a:xfrm>
            <a:off x="6304599" y="4496661"/>
            <a:ext cx="13585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Qwen3.5 9b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01E2534-A989-80ED-CD33-8AAE2678CC2D}"/>
              </a:ext>
            </a:extLst>
          </p:cNvPr>
          <p:cNvSpPr txBox="1"/>
          <p:nvPr/>
        </p:nvSpPr>
        <p:spPr>
          <a:xfrm>
            <a:off x="4921671" y="5228732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过滤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闲聊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B85BAD6-86C8-52E4-D169-3AC42B93ACAE}"/>
              </a:ext>
            </a:extLst>
          </p:cNvPr>
          <p:cNvSpPr txBox="1"/>
          <p:nvPr/>
        </p:nvSpPr>
        <p:spPr>
          <a:xfrm>
            <a:off x="6583777" y="5228732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提炼</a:t>
            </a:r>
            <a:endParaRPr lang="en-US" altLang="zh-CN" dirty="0"/>
          </a:p>
          <a:p>
            <a:r>
              <a:rPr lang="zh-CN" altLang="en-US" dirty="0"/>
              <a:t>信息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0D63921F-6787-15FB-5D54-70E107C75FAE}"/>
              </a:ext>
            </a:extLst>
          </p:cNvPr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29893" y="2232930"/>
            <a:ext cx="3235510" cy="3886224"/>
          </a:xfrm>
          <a:prstGeom prst="roundRect">
            <a:avLst>
              <a:gd name="adj" fmla="val 7143"/>
            </a:avLst>
          </a:prstGeom>
        </p:spPr>
      </p:pic>
      <p:grpSp>
        <p:nvGrpSpPr>
          <p:cNvPr id="40" name="组合 39">
            <a:extLst>
              <a:ext uri="{FF2B5EF4-FFF2-40B4-BE49-F238E27FC236}">
                <a16:creationId xmlns:a16="http://schemas.microsoft.com/office/drawing/2014/main" id="{D8D0B304-52E3-C10F-94E9-A38255072853}"/>
              </a:ext>
            </a:extLst>
          </p:cNvPr>
          <p:cNvGrpSpPr/>
          <p:nvPr/>
        </p:nvGrpSpPr>
        <p:grpSpPr>
          <a:xfrm>
            <a:off x="858363" y="1054228"/>
            <a:ext cx="10607040" cy="1027179"/>
            <a:chOff x="858363" y="1221971"/>
            <a:chExt cx="10607040" cy="1027179"/>
          </a:xfrm>
        </p:grpSpPr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2093F7E4-D4DD-84E0-4FBC-D4A38F7463B5}"/>
                </a:ext>
              </a:extLst>
            </p:cNvPr>
            <p:cNvSpPr/>
            <p:nvPr/>
          </p:nvSpPr>
          <p:spPr>
            <a:xfrm>
              <a:off x="858363" y="1221971"/>
              <a:ext cx="10607040" cy="1027179"/>
            </a:xfrm>
            <a:prstGeom prst="roundRect">
              <a:avLst/>
            </a:prstGeom>
            <a:solidFill>
              <a:srgbClr val="E6F6F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文本框 3">
              <a:extLst>
                <a:ext uri="{FF2B5EF4-FFF2-40B4-BE49-F238E27FC236}">
                  <a16:creationId xmlns:a16="http://schemas.microsoft.com/office/drawing/2014/main" id="{D6CF148A-5393-08D6-28E0-9CD0094869CE}"/>
                </a:ext>
              </a:extLst>
            </p:cNvPr>
            <p:cNvSpPr txBox="1"/>
            <p:nvPr/>
          </p:nvSpPr>
          <p:spPr>
            <a:xfrm>
              <a:off x="1510106" y="1381512"/>
              <a:ext cx="6374054" cy="7505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 fontAlgn="base">
                <a:spcBef>
                  <a:spcPct val="1"/>
                </a:spcBef>
                <a:spcAft>
                  <a:spcPct val="1"/>
                </a:spcAft>
              </a:pPr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AI 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筛集信息</a:t>
              </a:r>
            </a:p>
            <a:p>
              <a:pPr algn="just" fontAlgn="base">
                <a:lnSpc>
                  <a:spcPct val="130000"/>
                </a:lnSpc>
                <a:spcBef>
                  <a:spcPct val="1"/>
                </a:spcBef>
                <a:spcAft>
                  <a:spcPct val="1"/>
                </a:spcAft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取其精华，去其糟粕；通知、聊天，一样不漏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7" name="文本框 46">
            <a:extLst>
              <a:ext uri="{FF2B5EF4-FFF2-40B4-BE49-F238E27FC236}">
                <a16:creationId xmlns:a16="http://schemas.microsoft.com/office/drawing/2014/main" id="{0A509DD8-745D-7481-76B6-83522AF5C89B}"/>
              </a:ext>
            </a:extLst>
          </p:cNvPr>
          <p:cNvSpPr txBox="1"/>
          <p:nvPr/>
        </p:nvSpPr>
        <p:spPr>
          <a:xfrm>
            <a:off x="921824" y="1065744"/>
            <a:ext cx="6126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2</a:t>
            </a:r>
            <a:endParaRPr lang="zh-CN" altLang="en-US" sz="6000" dirty="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pic>
        <p:nvPicPr>
          <p:cNvPr id="54" name="图形 53" descr="箭头轻微弯曲">
            <a:extLst>
              <a:ext uri="{FF2B5EF4-FFF2-40B4-BE49-F238E27FC236}">
                <a16:creationId xmlns:a16="http://schemas.microsoft.com/office/drawing/2014/main" id="{9DFA0145-6D16-4DD4-F088-8C977DE41A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549416" flipV="1">
            <a:off x="3915251" y="3349298"/>
            <a:ext cx="1184366" cy="714292"/>
          </a:xfrm>
          <a:prstGeom prst="rect">
            <a:avLst/>
          </a:prstGeom>
        </p:spPr>
      </p:pic>
      <p:grpSp>
        <p:nvGrpSpPr>
          <p:cNvPr id="62" name="组合 61">
            <a:extLst>
              <a:ext uri="{FF2B5EF4-FFF2-40B4-BE49-F238E27FC236}">
                <a16:creationId xmlns:a16="http://schemas.microsoft.com/office/drawing/2014/main" id="{BB243997-2E45-C979-379A-5B1C3EA5B8F9}"/>
              </a:ext>
            </a:extLst>
          </p:cNvPr>
          <p:cNvGrpSpPr/>
          <p:nvPr/>
        </p:nvGrpSpPr>
        <p:grpSpPr>
          <a:xfrm>
            <a:off x="5899280" y="4053313"/>
            <a:ext cx="436860" cy="300174"/>
            <a:chOff x="5899280" y="3992353"/>
            <a:chExt cx="436860" cy="300174"/>
          </a:xfrm>
          <a:solidFill>
            <a:srgbClr val="0087FE"/>
          </a:solidFill>
        </p:grpSpPr>
        <p:sp>
          <p:nvSpPr>
            <p:cNvPr id="59" name="任意多边形: 形状 58">
              <a:extLst>
                <a:ext uri="{FF2B5EF4-FFF2-40B4-BE49-F238E27FC236}">
                  <a16:creationId xmlns:a16="http://schemas.microsoft.com/office/drawing/2014/main" id="{8788A815-9993-D927-E7F5-E88E41F0B792}"/>
                </a:ext>
              </a:extLst>
            </p:cNvPr>
            <p:cNvSpPr/>
            <p:nvPr/>
          </p:nvSpPr>
          <p:spPr>
            <a:xfrm>
              <a:off x="6027926" y="3992353"/>
              <a:ext cx="179568" cy="300174"/>
            </a:xfrm>
            <a:custGeom>
              <a:avLst/>
              <a:gdLst>
                <a:gd name="csX0" fmla="*/ 67003 w 179568"/>
                <a:gd name="csY0" fmla="*/ 0 h 300174"/>
                <a:gd name="csX1" fmla="*/ 0 w 179568"/>
                <a:gd name="csY1" fmla="*/ 0 h 300174"/>
                <a:gd name="csX2" fmla="*/ 112565 w 179568"/>
                <a:gd name="csY2" fmla="*/ 150087 h 300174"/>
                <a:gd name="csX3" fmla="*/ 0 w 179568"/>
                <a:gd name="csY3" fmla="*/ 300174 h 300174"/>
                <a:gd name="csX4" fmla="*/ 67003 w 179568"/>
                <a:gd name="csY4" fmla="*/ 300174 h 300174"/>
                <a:gd name="csX5" fmla="*/ 179568 w 179568"/>
                <a:gd name="csY5" fmla="*/ 150087 h 300174"/>
                <a:gd name="csX6" fmla="*/ 67003 w 179568"/>
                <a:gd name="csY6" fmla="*/ 0 h 3001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79568" h="300174">
                  <a:moveTo>
                    <a:pt x="67003" y="0"/>
                  </a:moveTo>
                  <a:lnTo>
                    <a:pt x="0" y="0"/>
                  </a:lnTo>
                  <a:lnTo>
                    <a:pt x="112565" y="150087"/>
                  </a:lnTo>
                  <a:lnTo>
                    <a:pt x="0" y="300174"/>
                  </a:lnTo>
                  <a:lnTo>
                    <a:pt x="67003" y="300174"/>
                  </a:lnTo>
                  <a:lnTo>
                    <a:pt x="179568" y="150087"/>
                  </a:lnTo>
                  <a:lnTo>
                    <a:pt x="67003" y="0"/>
                  </a:lnTo>
                  <a:close/>
                </a:path>
              </a:pathLst>
            </a:custGeom>
            <a:grpFill/>
            <a:ln w="5358" cap="flat">
              <a:noFill/>
              <a:prstDash val="solid"/>
              <a:miter/>
            </a:ln>
          </p:spPr>
        </p:sp>
        <p:sp>
          <p:nvSpPr>
            <p:cNvPr id="60" name="任意多边形: 形状 59">
              <a:extLst>
                <a:ext uri="{FF2B5EF4-FFF2-40B4-BE49-F238E27FC236}">
                  <a16:creationId xmlns:a16="http://schemas.microsoft.com/office/drawing/2014/main" id="{289C9AC9-7960-5499-E907-2D3A4D8A7C8A}"/>
                </a:ext>
              </a:extLst>
            </p:cNvPr>
            <p:cNvSpPr/>
            <p:nvPr/>
          </p:nvSpPr>
          <p:spPr>
            <a:xfrm>
              <a:off x="5899280" y="3992353"/>
              <a:ext cx="179568" cy="300174"/>
            </a:xfrm>
            <a:custGeom>
              <a:avLst/>
              <a:gdLst>
                <a:gd name="csX0" fmla="*/ 0 w 179568"/>
                <a:gd name="csY0" fmla="*/ 300174 h 300174"/>
                <a:gd name="csX1" fmla="*/ 67003 w 179568"/>
                <a:gd name="csY1" fmla="*/ 300174 h 300174"/>
                <a:gd name="csX2" fmla="*/ 179568 w 179568"/>
                <a:gd name="csY2" fmla="*/ 150087 h 300174"/>
                <a:gd name="csX3" fmla="*/ 67003 w 179568"/>
                <a:gd name="csY3" fmla="*/ 0 h 300174"/>
                <a:gd name="csX4" fmla="*/ 0 w 179568"/>
                <a:gd name="csY4" fmla="*/ 0 h 300174"/>
                <a:gd name="csX5" fmla="*/ 112565 w 179568"/>
                <a:gd name="csY5" fmla="*/ 150087 h 300174"/>
                <a:gd name="csX6" fmla="*/ 0 w 179568"/>
                <a:gd name="csY6" fmla="*/ 300174 h 3001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79568" h="300174">
                  <a:moveTo>
                    <a:pt x="0" y="300174"/>
                  </a:moveTo>
                  <a:lnTo>
                    <a:pt x="67003" y="300174"/>
                  </a:lnTo>
                  <a:lnTo>
                    <a:pt x="179568" y="150087"/>
                  </a:lnTo>
                  <a:lnTo>
                    <a:pt x="67003" y="0"/>
                  </a:lnTo>
                  <a:lnTo>
                    <a:pt x="0" y="0"/>
                  </a:lnTo>
                  <a:lnTo>
                    <a:pt x="112565" y="150087"/>
                  </a:lnTo>
                  <a:lnTo>
                    <a:pt x="0" y="300174"/>
                  </a:lnTo>
                  <a:close/>
                </a:path>
              </a:pathLst>
            </a:custGeom>
            <a:grpFill/>
            <a:ln w="5358" cap="flat">
              <a:noFill/>
              <a:prstDash val="solid"/>
              <a:miter/>
            </a:ln>
          </p:spPr>
        </p:sp>
        <p:sp>
          <p:nvSpPr>
            <p:cNvPr id="61" name="任意多边形: 形状 60">
              <a:extLst>
                <a:ext uri="{FF2B5EF4-FFF2-40B4-BE49-F238E27FC236}">
                  <a16:creationId xmlns:a16="http://schemas.microsoft.com/office/drawing/2014/main" id="{CC9E3DA6-A893-62C6-4EEA-3DDE397A83C5}"/>
                </a:ext>
              </a:extLst>
            </p:cNvPr>
            <p:cNvSpPr/>
            <p:nvPr/>
          </p:nvSpPr>
          <p:spPr>
            <a:xfrm>
              <a:off x="6156572" y="3992353"/>
              <a:ext cx="179568" cy="300174"/>
            </a:xfrm>
            <a:custGeom>
              <a:avLst/>
              <a:gdLst>
                <a:gd name="csX0" fmla="*/ 67003 w 179568"/>
                <a:gd name="csY0" fmla="*/ 0 h 300174"/>
                <a:gd name="csX1" fmla="*/ 0 w 179568"/>
                <a:gd name="csY1" fmla="*/ 0 h 300174"/>
                <a:gd name="csX2" fmla="*/ 112565 w 179568"/>
                <a:gd name="csY2" fmla="*/ 150087 h 300174"/>
                <a:gd name="csX3" fmla="*/ 0 w 179568"/>
                <a:gd name="csY3" fmla="*/ 300174 h 300174"/>
                <a:gd name="csX4" fmla="*/ 67003 w 179568"/>
                <a:gd name="csY4" fmla="*/ 300174 h 300174"/>
                <a:gd name="csX5" fmla="*/ 179568 w 179568"/>
                <a:gd name="csY5" fmla="*/ 150087 h 300174"/>
                <a:gd name="csX6" fmla="*/ 67003 w 179568"/>
                <a:gd name="csY6" fmla="*/ 0 h 3001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79568" h="300174">
                  <a:moveTo>
                    <a:pt x="67003" y="0"/>
                  </a:moveTo>
                  <a:lnTo>
                    <a:pt x="0" y="0"/>
                  </a:lnTo>
                  <a:lnTo>
                    <a:pt x="112565" y="150087"/>
                  </a:lnTo>
                  <a:lnTo>
                    <a:pt x="0" y="300174"/>
                  </a:lnTo>
                  <a:lnTo>
                    <a:pt x="67003" y="300174"/>
                  </a:lnTo>
                  <a:lnTo>
                    <a:pt x="179568" y="150087"/>
                  </a:lnTo>
                  <a:lnTo>
                    <a:pt x="67003" y="0"/>
                  </a:lnTo>
                  <a:close/>
                </a:path>
              </a:pathLst>
            </a:custGeom>
            <a:grpFill/>
            <a:ln w="5358" cap="flat">
              <a:noFill/>
              <a:prstDash val="solid"/>
              <a:miter/>
            </a:ln>
          </p:spPr>
        </p: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0EA1460E-9117-2B68-4F6C-F7B462011085}"/>
              </a:ext>
            </a:extLst>
          </p:cNvPr>
          <p:cNvGrpSpPr/>
          <p:nvPr/>
        </p:nvGrpSpPr>
        <p:grpSpPr>
          <a:xfrm>
            <a:off x="7669573" y="4053313"/>
            <a:ext cx="436860" cy="300174"/>
            <a:chOff x="5899280" y="3992353"/>
            <a:chExt cx="436860" cy="300174"/>
          </a:xfrm>
          <a:solidFill>
            <a:srgbClr val="0087FE"/>
          </a:solidFill>
        </p:grpSpPr>
        <p:sp>
          <p:nvSpPr>
            <p:cNvPr id="64" name="任意多边形: 形状 63">
              <a:extLst>
                <a:ext uri="{FF2B5EF4-FFF2-40B4-BE49-F238E27FC236}">
                  <a16:creationId xmlns:a16="http://schemas.microsoft.com/office/drawing/2014/main" id="{7AF7634C-93E9-16EF-0A28-C7B8EB07A7A9}"/>
                </a:ext>
              </a:extLst>
            </p:cNvPr>
            <p:cNvSpPr/>
            <p:nvPr/>
          </p:nvSpPr>
          <p:spPr>
            <a:xfrm>
              <a:off x="6027926" y="3992353"/>
              <a:ext cx="179568" cy="300174"/>
            </a:xfrm>
            <a:custGeom>
              <a:avLst/>
              <a:gdLst>
                <a:gd name="csX0" fmla="*/ 67003 w 179568"/>
                <a:gd name="csY0" fmla="*/ 0 h 300174"/>
                <a:gd name="csX1" fmla="*/ 0 w 179568"/>
                <a:gd name="csY1" fmla="*/ 0 h 300174"/>
                <a:gd name="csX2" fmla="*/ 112565 w 179568"/>
                <a:gd name="csY2" fmla="*/ 150087 h 300174"/>
                <a:gd name="csX3" fmla="*/ 0 w 179568"/>
                <a:gd name="csY3" fmla="*/ 300174 h 300174"/>
                <a:gd name="csX4" fmla="*/ 67003 w 179568"/>
                <a:gd name="csY4" fmla="*/ 300174 h 300174"/>
                <a:gd name="csX5" fmla="*/ 179568 w 179568"/>
                <a:gd name="csY5" fmla="*/ 150087 h 300174"/>
                <a:gd name="csX6" fmla="*/ 67003 w 179568"/>
                <a:gd name="csY6" fmla="*/ 0 h 3001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79568" h="300174">
                  <a:moveTo>
                    <a:pt x="67003" y="0"/>
                  </a:moveTo>
                  <a:lnTo>
                    <a:pt x="0" y="0"/>
                  </a:lnTo>
                  <a:lnTo>
                    <a:pt x="112565" y="150087"/>
                  </a:lnTo>
                  <a:lnTo>
                    <a:pt x="0" y="300174"/>
                  </a:lnTo>
                  <a:lnTo>
                    <a:pt x="67003" y="300174"/>
                  </a:lnTo>
                  <a:lnTo>
                    <a:pt x="179568" y="150087"/>
                  </a:lnTo>
                  <a:lnTo>
                    <a:pt x="67003" y="0"/>
                  </a:lnTo>
                  <a:close/>
                </a:path>
              </a:pathLst>
            </a:custGeom>
            <a:grpFill/>
            <a:ln w="5358" cap="flat">
              <a:noFill/>
              <a:prstDash val="solid"/>
              <a:miter/>
            </a:ln>
          </p:spPr>
        </p:sp>
        <p:sp>
          <p:nvSpPr>
            <p:cNvPr id="65" name="任意多边形: 形状 64">
              <a:extLst>
                <a:ext uri="{FF2B5EF4-FFF2-40B4-BE49-F238E27FC236}">
                  <a16:creationId xmlns:a16="http://schemas.microsoft.com/office/drawing/2014/main" id="{945BDA02-2FC8-DE76-1930-546523A474F5}"/>
                </a:ext>
              </a:extLst>
            </p:cNvPr>
            <p:cNvSpPr/>
            <p:nvPr/>
          </p:nvSpPr>
          <p:spPr>
            <a:xfrm>
              <a:off x="5899280" y="3992353"/>
              <a:ext cx="179568" cy="300174"/>
            </a:xfrm>
            <a:custGeom>
              <a:avLst/>
              <a:gdLst>
                <a:gd name="csX0" fmla="*/ 0 w 179568"/>
                <a:gd name="csY0" fmla="*/ 300174 h 300174"/>
                <a:gd name="csX1" fmla="*/ 67003 w 179568"/>
                <a:gd name="csY1" fmla="*/ 300174 h 300174"/>
                <a:gd name="csX2" fmla="*/ 179568 w 179568"/>
                <a:gd name="csY2" fmla="*/ 150087 h 300174"/>
                <a:gd name="csX3" fmla="*/ 67003 w 179568"/>
                <a:gd name="csY3" fmla="*/ 0 h 300174"/>
                <a:gd name="csX4" fmla="*/ 0 w 179568"/>
                <a:gd name="csY4" fmla="*/ 0 h 300174"/>
                <a:gd name="csX5" fmla="*/ 112565 w 179568"/>
                <a:gd name="csY5" fmla="*/ 150087 h 300174"/>
                <a:gd name="csX6" fmla="*/ 0 w 179568"/>
                <a:gd name="csY6" fmla="*/ 300174 h 3001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79568" h="300174">
                  <a:moveTo>
                    <a:pt x="0" y="300174"/>
                  </a:moveTo>
                  <a:lnTo>
                    <a:pt x="67003" y="300174"/>
                  </a:lnTo>
                  <a:lnTo>
                    <a:pt x="179568" y="150087"/>
                  </a:lnTo>
                  <a:lnTo>
                    <a:pt x="67003" y="0"/>
                  </a:lnTo>
                  <a:lnTo>
                    <a:pt x="0" y="0"/>
                  </a:lnTo>
                  <a:lnTo>
                    <a:pt x="112565" y="150087"/>
                  </a:lnTo>
                  <a:lnTo>
                    <a:pt x="0" y="300174"/>
                  </a:lnTo>
                  <a:close/>
                </a:path>
              </a:pathLst>
            </a:custGeom>
            <a:grpFill/>
            <a:ln w="5358" cap="flat">
              <a:noFill/>
              <a:prstDash val="solid"/>
              <a:miter/>
            </a:ln>
          </p:spPr>
        </p:sp>
        <p:sp>
          <p:nvSpPr>
            <p:cNvPr id="66" name="任意多边形: 形状 65">
              <a:extLst>
                <a:ext uri="{FF2B5EF4-FFF2-40B4-BE49-F238E27FC236}">
                  <a16:creationId xmlns:a16="http://schemas.microsoft.com/office/drawing/2014/main" id="{4EA69E24-AC4B-15F9-9DA3-E461734AC433}"/>
                </a:ext>
              </a:extLst>
            </p:cNvPr>
            <p:cNvSpPr/>
            <p:nvPr/>
          </p:nvSpPr>
          <p:spPr>
            <a:xfrm>
              <a:off x="6156572" y="3992353"/>
              <a:ext cx="179568" cy="300174"/>
            </a:xfrm>
            <a:custGeom>
              <a:avLst/>
              <a:gdLst>
                <a:gd name="csX0" fmla="*/ 67003 w 179568"/>
                <a:gd name="csY0" fmla="*/ 0 h 300174"/>
                <a:gd name="csX1" fmla="*/ 0 w 179568"/>
                <a:gd name="csY1" fmla="*/ 0 h 300174"/>
                <a:gd name="csX2" fmla="*/ 112565 w 179568"/>
                <a:gd name="csY2" fmla="*/ 150087 h 300174"/>
                <a:gd name="csX3" fmla="*/ 0 w 179568"/>
                <a:gd name="csY3" fmla="*/ 300174 h 300174"/>
                <a:gd name="csX4" fmla="*/ 67003 w 179568"/>
                <a:gd name="csY4" fmla="*/ 300174 h 300174"/>
                <a:gd name="csX5" fmla="*/ 179568 w 179568"/>
                <a:gd name="csY5" fmla="*/ 150087 h 300174"/>
                <a:gd name="csX6" fmla="*/ 67003 w 179568"/>
                <a:gd name="csY6" fmla="*/ 0 h 3001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79568" h="300174">
                  <a:moveTo>
                    <a:pt x="67003" y="0"/>
                  </a:moveTo>
                  <a:lnTo>
                    <a:pt x="0" y="0"/>
                  </a:lnTo>
                  <a:lnTo>
                    <a:pt x="112565" y="150087"/>
                  </a:lnTo>
                  <a:lnTo>
                    <a:pt x="0" y="300174"/>
                  </a:lnTo>
                  <a:lnTo>
                    <a:pt x="67003" y="300174"/>
                  </a:lnTo>
                  <a:lnTo>
                    <a:pt x="179568" y="150087"/>
                  </a:lnTo>
                  <a:lnTo>
                    <a:pt x="67003" y="0"/>
                  </a:lnTo>
                  <a:close/>
                </a:path>
              </a:pathLst>
            </a:custGeom>
            <a:grpFill/>
            <a:ln w="5358" cap="flat">
              <a:noFill/>
              <a:prstDash val="solid"/>
              <a:miter/>
            </a:ln>
          </p:spPr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427C3F51-C207-FB8E-5F8E-47C2A018E981}"/>
              </a:ext>
            </a:extLst>
          </p:cNvPr>
          <p:cNvGrpSpPr/>
          <p:nvPr/>
        </p:nvGrpSpPr>
        <p:grpSpPr>
          <a:xfrm>
            <a:off x="8418353" y="993217"/>
            <a:ext cx="2915284" cy="1191694"/>
            <a:chOff x="1162435" y="2378739"/>
            <a:chExt cx="2915284" cy="1191694"/>
          </a:xfrm>
        </p:grpSpPr>
        <p:pic>
          <p:nvPicPr>
            <p:cNvPr id="68" name="图形 67" descr="聊天 RTL">
              <a:extLst>
                <a:ext uri="{FF2B5EF4-FFF2-40B4-BE49-F238E27FC236}">
                  <a16:creationId xmlns:a16="http://schemas.microsoft.com/office/drawing/2014/main" id="{9A30CFD3-78DA-5820-CE81-743BDE5CCE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flipH="1">
              <a:off x="3178849" y="2542454"/>
              <a:ext cx="898870" cy="864263"/>
            </a:xfrm>
            <a:prstGeom prst="rect">
              <a:avLst/>
            </a:prstGeom>
          </p:spPr>
        </p:pic>
        <p:pic>
          <p:nvPicPr>
            <p:cNvPr id="69" name="图形 68" descr="聊天">
              <a:extLst>
                <a:ext uri="{FF2B5EF4-FFF2-40B4-BE49-F238E27FC236}">
                  <a16:creationId xmlns:a16="http://schemas.microsoft.com/office/drawing/2014/main" id="{95353A0D-E57C-3C0B-FEA6-205FA1F9BC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1162435" y="2378739"/>
              <a:ext cx="1180330" cy="1191694"/>
            </a:xfrm>
            <a:prstGeom prst="rect">
              <a:avLst/>
            </a:prstGeom>
          </p:spPr>
        </p:pic>
        <p:pic>
          <p:nvPicPr>
            <p:cNvPr id="70" name="图形 69" descr="箭头轻微弯曲">
              <a:extLst>
                <a:ext uri="{FF2B5EF4-FFF2-40B4-BE49-F238E27FC236}">
                  <a16:creationId xmlns:a16="http://schemas.microsoft.com/office/drawing/2014/main" id="{2546A29D-353D-9E03-AD3B-1CA4DB3F056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342765" y="2733651"/>
              <a:ext cx="754387" cy="7543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51111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3315F-B23C-5DA5-7E00-25E9E23E3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ED50B204-ED02-F37B-404A-666BFC832CE4}"/>
              </a:ext>
            </a:extLst>
          </p:cNvPr>
          <p:cNvSpPr/>
          <p:nvPr/>
        </p:nvSpPr>
        <p:spPr>
          <a:xfrm flipH="1">
            <a:off x="6626247" y="2328672"/>
            <a:ext cx="1999996" cy="3730752"/>
          </a:xfrm>
          <a:custGeom>
            <a:avLst/>
            <a:gdLst>
              <a:gd name="csX0" fmla="*/ 64008 w 1999996"/>
              <a:gd name="csY0" fmla="*/ 2913888 h 3730752"/>
              <a:gd name="csX1" fmla="*/ 1120140 w 1999996"/>
              <a:gd name="csY1" fmla="*/ 0 h 3730752"/>
              <a:gd name="csX2" fmla="*/ 1999996 w 1999996"/>
              <a:gd name="csY2" fmla="*/ 1495552 h 3730752"/>
              <a:gd name="csX3" fmla="*/ 211836 w 1999996"/>
              <a:gd name="csY3" fmla="*/ 3730752 h 3730752"/>
              <a:gd name="csX4" fmla="*/ 0 w 1999996"/>
              <a:gd name="csY4" fmla="*/ 3619500 h 3730752"/>
              <a:gd name="csX5" fmla="*/ 64008 w 1999996"/>
              <a:gd name="csY5" fmla="*/ 2913888 h 37307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999996" h="3730752">
                <a:moveTo>
                  <a:pt x="64008" y="2913888"/>
                </a:moveTo>
                <a:lnTo>
                  <a:pt x="1120140" y="0"/>
                </a:lnTo>
                <a:lnTo>
                  <a:pt x="1999996" y="1495552"/>
                </a:lnTo>
                <a:lnTo>
                  <a:pt x="211836" y="3730752"/>
                </a:lnTo>
                <a:lnTo>
                  <a:pt x="0" y="3619500"/>
                </a:lnTo>
                <a:lnTo>
                  <a:pt x="64008" y="2913888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61000">
                <a:schemeClr val="accent1">
                  <a:lumMod val="45000"/>
                  <a:lumOff val="55000"/>
                </a:schemeClr>
              </a:gs>
              <a:gs pos="47000">
                <a:schemeClr val="accent1">
                  <a:lumMod val="30000"/>
                  <a:lumOff val="7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37B9A5C8-1F40-BF6D-B149-489C7A58029F}"/>
              </a:ext>
            </a:extLst>
          </p:cNvPr>
          <p:cNvSpPr/>
          <p:nvPr/>
        </p:nvSpPr>
        <p:spPr>
          <a:xfrm>
            <a:off x="3925824" y="2401824"/>
            <a:ext cx="883920" cy="3596640"/>
          </a:xfrm>
          <a:custGeom>
            <a:avLst/>
            <a:gdLst>
              <a:gd name="csX0" fmla="*/ 0 w 883920"/>
              <a:gd name="csY0" fmla="*/ 2212848 h 3596640"/>
              <a:gd name="csX1" fmla="*/ 737616 w 883920"/>
              <a:gd name="csY1" fmla="*/ 0 h 3596640"/>
              <a:gd name="csX2" fmla="*/ 883920 w 883920"/>
              <a:gd name="csY2" fmla="*/ 6096 h 3596640"/>
              <a:gd name="csX3" fmla="*/ 725424 w 883920"/>
              <a:gd name="csY3" fmla="*/ 2566416 h 3596640"/>
              <a:gd name="csX4" fmla="*/ 48768 w 883920"/>
              <a:gd name="csY4" fmla="*/ 3596640 h 3596640"/>
              <a:gd name="csX5" fmla="*/ 0 w 883920"/>
              <a:gd name="csY5" fmla="*/ 2212848 h 35966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883920" h="3596640">
                <a:moveTo>
                  <a:pt x="0" y="2212848"/>
                </a:moveTo>
                <a:lnTo>
                  <a:pt x="737616" y="0"/>
                </a:lnTo>
                <a:lnTo>
                  <a:pt x="883920" y="6096"/>
                </a:lnTo>
                <a:lnTo>
                  <a:pt x="725424" y="2566416"/>
                </a:lnTo>
                <a:lnTo>
                  <a:pt x="48768" y="3596640"/>
                </a:lnTo>
                <a:lnTo>
                  <a:pt x="0" y="2212848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24000">
                <a:schemeClr val="accent1">
                  <a:lumMod val="45000"/>
                  <a:lumOff val="55000"/>
                </a:schemeClr>
              </a:gs>
              <a:gs pos="40000">
                <a:schemeClr val="accent1">
                  <a:lumMod val="30000"/>
                  <a:lumOff val="7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灯片编号占位符 1">
            <a:extLst>
              <a:ext uri="{FF2B5EF4-FFF2-40B4-BE49-F238E27FC236}">
                <a16:creationId xmlns:a16="http://schemas.microsoft.com/office/drawing/2014/main" id="{DBB18580-6E4E-F22F-F8B8-A6D67579D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占位符 2">
            <a:extLst>
              <a:ext uri="{FF2B5EF4-FFF2-40B4-BE49-F238E27FC236}">
                <a16:creationId xmlns:a16="http://schemas.microsoft.com/office/drawing/2014/main" id="{72BBD819-BCE5-7705-8243-20BB091DB5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5815" y="200290"/>
            <a:ext cx="5966068" cy="446134"/>
          </a:xfrm>
        </p:spPr>
        <p:txBody>
          <a:bodyPr anchor="ctr"/>
          <a:lstStyle/>
          <a:p>
            <a:r>
              <a:rPr kumimoji="1"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应用核心功能</a:t>
            </a:r>
            <a:endParaRPr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BBAE453-6083-0369-514C-73F3D6A47975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97130" y="2525456"/>
            <a:ext cx="3168273" cy="3565056"/>
          </a:xfrm>
          <a:prstGeom prst="roundRect">
            <a:avLst>
              <a:gd name="adj" fmla="val 7234"/>
            </a:avLst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B8AF1E8-942D-8F0E-F53F-7BBAD413D0B1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9320" y="2242108"/>
            <a:ext cx="2893359" cy="2890110"/>
          </a:xfrm>
          <a:prstGeom prst="roundRect">
            <a:avLst>
              <a:gd name="adj" fmla="val 7234"/>
            </a:avLst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4234F7EE-56DA-213F-E138-17C64FCBA194}"/>
              </a:ext>
            </a:extLst>
          </p:cNvPr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58363" y="3200401"/>
            <a:ext cx="3168274" cy="2890110"/>
          </a:xfrm>
          <a:prstGeom prst="roundRect">
            <a:avLst>
              <a:gd name="adj" fmla="val 7234"/>
            </a:avLst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84639659-3509-9A4C-C5CE-0D402B689961}"/>
              </a:ext>
            </a:extLst>
          </p:cNvPr>
          <p:cNvGrpSpPr/>
          <p:nvPr/>
        </p:nvGrpSpPr>
        <p:grpSpPr>
          <a:xfrm>
            <a:off x="858363" y="1054228"/>
            <a:ext cx="10607040" cy="1027179"/>
            <a:chOff x="858363" y="1221971"/>
            <a:chExt cx="10607040" cy="1027179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1079D9DA-C2AC-A262-39B2-C85A94BCA5FC}"/>
                </a:ext>
              </a:extLst>
            </p:cNvPr>
            <p:cNvSpPr/>
            <p:nvPr/>
          </p:nvSpPr>
          <p:spPr>
            <a:xfrm>
              <a:off x="858363" y="1221971"/>
              <a:ext cx="10607040" cy="1027179"/>
            </a:xfrm>
            <a:prstGeom prst="roundRect">
              <a:avLst/>
            </a:prstGeom>
            <a:solidFill>
              <a:srgbClr val="E6F6F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3">
              <a:extLst>
                <a:ext uri="{FF2B5EF4-FFF2-40B4-BE49-F238E27FC236}">
                  <a16:creationId xmlns:a16="http://schemas.microsoft.com/office/drawing/2014/main" id="{2FEA9F31-A1AD-7FB3-6187-58C4D2CEB5AA}"/>
                </a:ext>
              </a:extLst>
            </p:cNvPr>
            <p:cNvSpPr txBox="1"/>
            <p:nvPr/>
          </p:nvSpPr>
          <p:spPr>
            <a:xfrm>
              <a:off x="1510106" y="1381512"/>
              <a:ext cx="6374054" cy="7505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 fontAlgn="base">
                <a:spcBef>
                  <a:spcPct val="1"/>
                </a:spcBef>
                <a:spcAft>
                  <a:spcPct val="1"/>
                </a:spcAft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列表</a:t>
              </a:r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甘特双模式</a:t>
              </a:r>
              <a:endPara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 fontAlgn="base">
                <a:lnSpc>
                  <a:spcPct val="130000"/>
                </a:lnSpc>
                <a:spcBef>
                  <a:spcPct val="1"/>
                </a:spcBef>
                <a:spcAft>
                  <a:spcPct val="1"/>
                </a:spcAft>
              </a:pP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AI 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只给草稿，用户点“保留”才落库，避免误建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CA014208-479E-B150-A847-3335029E4F5F}"/>
              </a:ext>
            </a:extLst>
          </p:cNvPr>
          <p:cNvSpPr txBox="1"/>
          <p:nvPr/>
        </p:nvSpPr>
        <p:spPr>
          <a:xfrm>
            <a:off x="921824" y="1065744"/>
            <a:ext cx="6126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3</a:t>
            </a:r>
            <a:endParaRPr lang="zh-CN" altLang="en-US" sz="6000" dirty="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D8450C21-E19B-EFC3-C891-E23A6C66FF4A}"/>
              </a:ext>
            </a:extLst>
          </p:cNvPr>
          <p:cNvGrpSpPr/>
          <p:nvPr/>
        </p:nvGrpSpPr>
        <p:grpSpPr>
          <a:xfrm>
            <a:off x="9185138" y="1117114"/>
            <a:ext cx="1957222" cy="914400"/>
            <a:chOff x="9120927" y="3841863"/>
            <a:chExt cx="1957222" cy="914400"/>
          </a:xfrm>
        </p:grpSpPr>
        <p:pic>
          <p:nvPicPr>
            <p:cNvPr id="27" name="图形 26" descr="列表">
              <a:extLst>
                <a:ext uri="{FF2B5EF4-FFF2-40B4-BE49-F238E27FC236}">
                  <a16:creationId xmlns:a16="http://schemas.microsoft.com/office/drawing/2014/main" id="{47A3D3EE-EF58-6549-FFF5-6EF09D1466F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120927" y="3843991"/>
              <a:ext cx="750011" cy="750011"/>
            </a:xfrm>
            <a:prstGeom prst="rect">
              <a:avLst/>
            </a:prstGeom>
          </p:spPr>
        </p:pic>
        <p:pic>
          <p:nvPicPr>
            <p:cNvPr id="28" name="图形 27" descr="清单">
              <a:extLst>
                <a:ext uri="{FF2B5EF4-FFF2-40B4-BE49-F238E27FC236}">
                  <a16:creationId xmlns:a16="http://schemas.microsoft.com/office/drawing/2014/main" id="{552EDFEC-0AC6-5EFE-4C89-50FBDBAA489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163749" y="3841863"/>
              <a:ext cx="914400" cy="914400"/>
            </a:xfrm>
            <a:prstGeom prst="rect">
              <a:avLst/>
            </a:prstGeom>
          </p:spPr>
        </p:pic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6B15CA7B-98F0-CB47-A823-37C9DED01C2A}"/>
                </a:ext>
              </a:extLst>
            </p:cNvPr>
            <p:cNvSpPr/>
            <p:nvPr/>
          </p:nvSpPr>
          <p:spPr>
            <a:xfrm flipV="1">
              <a:off x="9736203" y="4230548"/>
              <a:ext cx="585622" cy="473311"/>
            </a:xfrm>
            <a:custGeom>
              <a:avLst/>
              <a:gdLst>
                <a:gd name="csX0" fmla="*/ 585623 w 585622"/>
                <a:gd name="csY0" fmla="*/ 192534 h 473311"/>
                <a:gd name="csX1" fmla="*/ 356187 w 585622"/>
                <a:gd name="csY1" fmla="*/ 0 h 473311"/>
                <a:gd name="csX2" fmla="*/ 356187 w 585622"/>
                <a:gd name="csY2" fmla="*/ 112311 h 473311"/>
                <a:gd name="csX3" fmla="*/ 0 w 585622"/>
                <a:gd name="csY3" fmla="*/ 473312 h 473311"/>
                <a:gd name="csX4" fmla="*/ 356187 w 585622"/>
                <a:gd name="csY4" fmla="*/ 280778 h 473311"/>
                <a:gd name="csX5" fmla="*/ 356187 w 585622"/>
                <a:gd name="csY5" fmla="*/ 385067 h 473311"/>
                <a:gd name="csX6" fmla="*/ 585623 w 585622"/>
                <a:gd name="csY6" fmla="*/ 192534 h 4733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85622" h="473311">
                  <a:moveTo>
                    <a:pt x="585623" y="192534"/>
                  </a:moveTo>
                  <a:lnTo>
                    <a:pt x="356187" y="0"/>
                  </a:lnTo>
                  <a:lnTo>
                    <a:pt x="356187" y="112311"/>
                  </a:lnTo>
                  <a:cubicBezTo>
                    <a:pt x="4813" y="115520"/>
                    <a:pt x="0" y="473312"/>
                    <a:pt x="0" y="473312"/>
                  </a:cubicBezTo>
                  <a:cubicBezTo>
                    <a:pt x="0" y="473312"/>
                    <a:pt x="74607" y="283185"/>
                    <a:pt x="356187" y="280778"/>
                  </a:cubicBezTo>
                  <a:lnTo>
                    <a:pt x="356187" y="385067"/>
                  </a:lnTo>
                  <a:lnTo>
                    <a:pt x="585623" y="192534"/>
                  </a:lnTo>
                  <a:close/>
                </a:path>
              </a:pathLst>
            </a:custGeom>
            <a:solidFill>
              <a:srgbClr val="0087FE"/>
            </a:solidFill>
            <a:ln w="7938" cap="flat">
              <a:noFill/>
              <a:prstDash val="solid"/>
              <a:miter/>
            </a:ln>
          </p:spPr>
        </p:sp>
      </p:grpSp>
      <p:pic>
        <p:nvPicPr>
          <p:cNvPr id="33" name="图形 32" descr="游标 纯色填充">
            <a:extLst>
              <a:ext uri="{FF2B5EF4-FFF2-40B4-BE49-F238E27FC236}">
                <a16:creationId xmlns:a16="http://schemas.microsoft.com/office/drawing/2014/main" id="{437E7FA3-0125-ECA8-C2BA-6C94CF2A79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39977" y="5541264"/>
            <a:ext cx="914400" cy="914400"/>
          </a:xfrm>
          <a:prstGeom prst="rect">
            <a:avLst/>
          </a:prstGeom>
        </p:spPr>
      </p:pic>
      <p:pic>
        <p:nvPicPr>
          <p:cNvPr id="35" name="图形 34" descr="游标 纯色填充">
            <a:extLst>
              <a:ext uri="{FF2B5EF4-FFF2-40B4-BE49-F238E27FC236}">
                <a16:creationId xmlns:a16="http://schemas.microsoft.com/office/drawing/2014/main" id="{45A8C50A-B1F7-CB8F-CD98-B333BBDAFF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86049" y="3279648"/>
            <a:ext cx="914400" cy="914400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0B03E350-1FEC-42E7-DD6A-9A5B55173800}"/>
              </a:ext>
            </a:extLst>
          </p:cNvPr>
          <p:cNvSpPr txBox="1"/>
          <p:nvPr/>
        </p:nvSpPr>
        <p:spPr>
          <a:xfrm>
            <a:off x="1183181" y="2775576"/>
            <a:ext cx="2518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任务列表页展示的待确认消息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BC01A2F-38D1-AD13-0B51-EA68E5D58560}"/>
              </a:ext>
            </a:extLst>
          </p:cNvPr>
          <p:cNvSpPr txBox="1"/>
          <p:nvPr/>
        </p:nvSpPr>
        <p:spPr>
          <a:xfrm>
            <a:off x="4836680" y="5291934"/>
            <a:ext cx="2518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点击待确认消息后的确认页面</a:t>
            </a:r>
          </a:p>
        </p:txBody>
      </p:sp>
    </p:spTree>
    <p:extLst>
      <p:ext uri="{BB962C8B-B14F-4D97-AF65-F5344CB8AC3E}">
        <p14:creationId xmlns:p14="http://schemas.microsoft.com/office/powerpoint/2010/main" val="676589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06E08-8B1C-DAEE-27A0-A763FD6F5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>
            <a:extLst>
              <a:ext uri="{FF2B5EF4-FFF2-40B4-BE49-F238E27FC236}">
                <a16:creationId xmlns:a16="http://schemas.microsoft.com/office/drawing/2014/main" id="{9B83D5F2-B65E-0FEA-0812-0AD3CF5DFFAD}"/>
              </a:ext>
            </a:extLst>
          </p:cNvPr>
          <p:cNvSpPr txBox="1"/>
          <p:nvPr/>
        </p:nvSpPr>
        <p:spPr>
          <a:xfrm>
            <a:off x="8007091" y="2303930"/>
            <a:ext cx="1292662" cy="393231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zh-CN" altLang="en-US" sz="7200" b="1" dirty="0">
                <a:gradFill flip="none" rotWithShape="1">
                  <a:gsLst>
                    <a:gs pos="0">
                      <a:srgbClr val="F3F8FE"/>
                    </a:gs>
                    <a:gs pos="64000">
                      <a:srgbClr val="0087FE"/>
                    </a:gs>
                    <a:gs pos="48000">
                      <a:srgbClr val="5FB3FD"/>
                    </a:gs>
                    <a:gs pos="100000">
                      <a:srgbClr val="0087FE"/>
                    </a:gs>
                  </a:gsLst>
                  <a:lin ang="5400000" scaled="0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跨度模式</a:t>
            </a:r>
          </a:p>
        </p:txBody>
      </p:sp>
      <p:pic>
        <p:nvPicPr>
          <p:cNvPr id="9" name="图形 8" descr="复选标记">
            <a:extLst>
              <a:ext uri="{FF2B5EF4-FFF2-40B4-BE49-F238E27FC236}">
                <a16:creationId xmlns:a16="http://schemas.microsoft.com/office/drawing/2014/main" id="{5EFE5AC1-FC33-7658-5955-237B08443D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23106" y="4862866"/>
            <a:ext cx="897534" cy="897534"/>
          </a:xfrm>
          <a:prstGeom prst="rect">
            <a:avLst/>
          </a:prstGeom>
        </p:spPr>
      </p:pic>
      <p:pic>
        <p:nvPicPr>
          <p:cNvPr id="10" name="图形 9" descr="条形图 RTL">
            <a:extLst>
              <a:ext uri="{FF2B5EF4-FFF2-40B4-BE49-F238E27FC236}">
                <a16:creationId xmlns:a16="http://schemas.microsoft.com/office/drawing/2014/main" id="{9B7E1E36-7314-A474-785A-D331A25E83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24072" t="-24592" r="24072" b="24592"/>
          <a:stretch>
            <a:fillRect/>
          </a:stretch>
        </p:blipFill>
        <p:spPr>
          <a:xfrm rot="5400000" flipV="1">
            <a:off x="6814966" y="4430062"/>
            <a:ext cx="1177530" cy="1206721"/>
          </a:xfrm>
          <a:prstGeom prst="rect">
            <a:avLst/>
          </a:prstGeom>
        </p:spPr>
      </p:pic>
      <p:sp>
        <p:nvSpPr>
          <p:cNvPr id="22" name="灯片编号占位符 1">
            <a:extLst>
              <a:ext uri="{FF2B5EF4-FFF2-40B4-BE49-F238E27FC236}">
                <a16:creationId xmlns:a16="http://schemas.microsoft.com/office/drawing/2014/main" id="{11288845-3D2D-74D9-BE34-2E50D529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占位符 2">
            <a:extLst>
              <a:ext uri="{FF2B5EF4-FFF2-40B4-BE49-F238E27FC236}">
                <a16:creationId xmlns:a16="http://schemas.microsoft.com/office/drawing/2014/main" id="{DC9BFA17-5690-2566-93DC-85CC49704A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5815" y="200290"/>
            <a:ext cx="5966068" cy="446134"/>
          </a:xfrm>
        </p:spPr>
        <p:txBody>
          <a:bodyPr anchor="ctr"/>
          <a:lstStyle/>
          <a:p>
            <a:r>
              <a:rPr kumimoji="1"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应用核心功能</a:t>
            </a:r>
            <a:endParaRPr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CF0E9FE-BC39-401A-CB76-68C26EAA7206}"/>
              </a:ext>
            </a:extLst>
          </p:cNvPr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926666" y="2303931"/>
            <a:ext cx="2538737" cy="3932311"/>
          </a:xfrm>
          <a:prstGeom prst="roundRect">
            <a:avLst>
              <a:gd name="adj" fmla="val 7234"/>
            </a:avLst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594174A8-2396-6B56-59B0-C8D699283789}"/>
              </a:ext>
            </a:extLst>
          </p:cNvPr>
          <p:cNvSpPr txBox="1"/>
          <p:nvPr/>
        </p:nvSpPr>
        <p:spPr>
          <a:xfrm>
            <a:off x="3235180" y="2303930"/>
            <a:ext cx="1292662" cy="393231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zh-CN" altLang="en-US" sz="7200" b="1" dirty="0">
                <a:gradFill flip="none" rotWithShape="1">
                  <a:gsLst>
                    <a:gs pos="100000">
                      <a:srgbClr val="F3F8FE"/>
                    </a:gs>
                    <a:gs pos="51000">
                      <a:srgbClr val="0087FE"/>
                    </a:gs>
                    <a:gs pos="75000">
                      <a:srgbClr val="5FB3FD"/>
                    </a:gs>
                    <a:gs pos="0">
                      <a:srgbClr val="0087FE"/>
                    </a:gs>
                  </a:gsLst>
                  <a:lin ang="5400000" scaled="0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列表模式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9654935-5E08-320B-5B9D-90B402AADAEF}"/>
              </a:ext>
            </a:extLst>
          </p:cNvPr>
          <p:cNvSpPr txBox="1"/>
          <p:nvPr/>
        </p:nvSpPr>
        <p:spPr>
          <a:xfrm>
            <a:off x="6676168" y="5682242"/>
            <a:ext cx="1415772" cy="553998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r"/>
            <a:r>
              <a:rPr lang="zh-CN" altLang="en-US" sz="1400" b="1" dirty="0">
                <a:solidFill>
                  <a:srgbClr val="0087F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滑动时间刻</a:t>
            </a:r>
            <a:endParaRPr lang="en-US" altLang="zh-CN" sz="1400" b="1" dirty="0">
              <a:solidFill>
                <a:srgbClr val="0087F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/>
            <a:r>
              <a:rPr lang="zh-CN" altLang="en-US" sz="1600" b="1" dirty="0">
                <a:solidFill>
                  <a:srgbClr val="0087FE">
                    <a:alpha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随意轴观日程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3B1044B-7567-8BAD-AE2E-A9F2A968AE11}"/>
              </a:ext>
            </a:extLst>
          </p:cNvPr>
          <p:cNvSpPr txBox="1"/>
          <p:nvPr/>
        </p:nvSpPr>
        <p:spPr>
          <a:xfrm>
            <a:off x="4153835" y="5682242"/>
            <a:ext cx="1687606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 b="1" dirty="0">
                <a:solidFill>
                  <a:srgbClr val="0087F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上下拨动</a:t>
            </a:r>
            <a:endParaRPr lang="en-US" altLang="zh-CN" sz="1400" b="1" dirty="0">
              <a:solidFill>
                <a:srgbClr val="0087F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rgbClr val="0087FE">
                    <a:alpha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纵览全局事务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33DAB65-5099-A54C-081C-24C1BBB6C3CF}"/>
              </a:ext>
            </a:extLst>
          </p:cNvPr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58363" y="2303932"/>
            <a:ext cx="2538737" cy="3932310"/>
          </a:xfrm>
          <a:prstGeom prst="roundRect">
            <a:avLst>
              <a:gd name="adj" fmla="val 7234"/>
            </a:avLst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1DE700D9-D50A-4927-FF6F-28B9B307B155}"/>
              </a:ext>
            </a:extLst>
          </p:cNvPr>
          <p:cNvGrpSpPr/>
          <p:nvPr/>
        </p:nvGrpSpPr>
        <p:grpSpPr>
          <a:xfrm>
            <a:off x="858363" y="1054228"/>
            <a:ext cx="10607040" cy="1027179"/>
            <a:chOff x="858363" y="1221971"/>
            <a:chExt cx="10607040" cy="1027179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FBD3227C-A6D1-0419-A2F0-0E093DDDEF4D}"/>
                </a:ext>
              </a:extLst>
            </p:cNvPr>
            <p:cNvSpPr/>
            <p:nvPr/>
          </p:nvSpPr>
          <p:spPr>
            <a:xfrm>
              <a:off x="858363" y="1221971"/>
              <a:ext cx="10607040" cy="1027179"/>
            </a:xfrm>
            <a:prstGeom prst="roundRect">
              <a:avLst/>
            </a:prstGeom>
            <a:solidFill>
              <a:srgbClr val="E6F6F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3">
              <a:extLst>
                <a:ext uri="{FF2B5EF4-FFF2-40B4-BE49-F238E27FC236}">
                  <a16:creationId xmlns:a16="http://schemas.microsoft.com/office/drawing/2014/main" id="{AEF3108A-845B-DC22-7942-8BA2E17B4185}"/>
                </a:ext>
              </a:extLst>
            </p:cNvPr>
            <p:cNvSpPr txBox="1"/>
            <p:nvPr/>
          </p:nvSpPr>
          <p:spPr>
            <a:xfrm>
              <a:off x="1510106" y="1381512"/>
              <a:ext cx="6374054" cy="7505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 fontAlgn="base">
                <a:spcBef>
                  <a:spcPct val="1"/>
                </a:spcBef>
                <a:spcAft>
                  <a:spcPct val="1"/>
                </a:spcAft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用户二次确认</a:t>
              </a:r>
            </a:p>
            <a:p>
              <a:pPr algn="just" fontAlgn="base">
                <a:lnSpc>
                  <a:spcPct val="130000"/>
                </a:lnSpc>
                <a:spcBef>
                  <a:spcPct val="1"/>
                </a:spcBef>
                <a:spcAft>
                  <a:spcPct val="1"/>
                </a:spcAft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今明天的任务快速查看，全局的任务直观查看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255D511F-652B-F261-083D-3AB1C433CA52}"/>
              </a:ext>
            </a:extLst>
          </p:cNvPr>
          <p:cNvSpPr txBox="1"/>
          <p:nvPr/>
        </p:nvSpPr>
        <p:spPr>
          <a:xfrm>
            <a:off x="921824" y="1065744"/>
            <a:ext cx="62549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4</a:t>
            </a:r>
            <a:endParaRPr lang="zh-CN" altLang="en-US" sz="6000" dirty="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EFA2FDF3-F231-CE7C-A3D1-908C489F28FB}"/>
              </a:ext>
            </a:extLst>
          </p:cNvPr>
          <p:cNvGrpSpPr/>
          <p:nvPr/>
        </p:nvGrpSpPr>
        <p:grpSpPr>
          <a:xfrm>
            <a:off x="9091035" y="1110617"/>
            <a:ext cx="1828800" cy="914400"/>
            <a:chOff x="1118347" y="5173264"/>
            <a:chExt cx="1828800" cy="914400"/>
          </a:xfrm>
        </p:grpSpPr>
        <p:pic>
          <p:nvPicPr>
            <p:cNvPr id="26" name="图形 25" descr="条形图 RTL">
              <a:extLst>
                <a:ext uri="{FF2B5EF4-FFF2-40B4-BE49-F238E27FC236}">
                  <a16:creationId xmlns:a16="http://schemas.microsoft.com/office/drawing/2014/main" id="{877691C0-CA66-E332-AEE4-453BDE7D242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5400000">
              <a:off x="2032747" y="5173264"/>
              <a:ext cx="914400" cy="914400"/>
            </a:xfrm>
            <a:prstGeom prst="rect">
              <a:avLst/>
            </a:prstGeom>
          </p:spPr>
        </p:pic>
        <p:pic>
          <p:nvPicPr>
            <p:cNvPr id="27" name="图形 26" descr="日历">
              <a:extLst>
                <a:ext uri="{FF2B5EF4-FFF2-40B4-BE49-F238E27FC236}">
                  <a16:creationId xmlns:a16="http://schemas.microsoft.com/office/drawing/2014/main" id="{959CC792-B98F-68E7-5650-A00459FDC1C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18347" y="5173264"/>
              <a:ext cx="914400" cy="914400"/>
            </a:xfrm>
            <a:prstGeom prst="rect">
              <a:avLst/>
            </a:prstGeom>
          </p:spPr>
        </p:pic>
      </p:grp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47BE723F-E3A4-8C1C-EAC5-F0FDB4FFB1A3}"/>
              </a:ext>
            </a:extLst>
          </p:cNvPr>
          <p:cNvSpPr/>
          <p:nvPr/>
        </p:nvSpPr>
        <p:spPr>
          <a:xfrm>
            <a:off x="4519233" y="2342713"/>
            <a:ext cx="1157684" cy="553998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搜索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005C55EA-5FDB-42D4-ADD3-34B45445885F}"/>
              </a:ext>
            </a:extLst>
          </p:cNvPr>
          <p:cNvSpPr/>
          <p:nvPr/>
        </p:nvSpPr>
        <p:spPr>
          <a:xfrm>
            <a:off x="4546175" y="3016257"/>
            <a:ext cx="1157684" cy="553998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批量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A0813A78-1B19-3F73-ED15-0E54DBC21217}"/>
              </a:ext>
            </a:extLst>
          </p:cNvPr>
          <p:cNvSpPr/>
          <p:nvPr/>
        </p:nvSpPr>
        <p:spPr>
          <a:xfrm>
            <a:off x="4546174" y="3689801"/>
            <a:ext cx="1157684" cy="553998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编辑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5475D767-C928-D3D7-D66C-579B8BD7253B}"/>
              </a:ext>
            </a:extLst>
          </p:cNvPr>
          <p:cNvSpPr/>
          <p:nvPr/>
        </p:nvSpPr>
        <p:spPr>
          <a:xfrm>
            <a:off x="4546175" y="4363344"/>
            <a:ext cx="1157684" cy="553998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排序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2D4CDBB9-57EF-A496-78C3-C535F702A5FD}"/>
              </a:ext>
            </a:extLst>
          </p:cNvPr>
          <p:cNvSpPr/>
          <p:nvPr/>
        </p:nvSpPr>
        <p:spPr>
          <a:xfrm>
            <a:off x="6506476" y="2342713"/>
            <a:ext cx="1157684" cy="553998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直观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5F133C42-BF33-F7C7-FE4B-E409F89C44F1}"/>
              </a:ext>
            </a:extLst>
          </p:cNvPr>
          <p:cNvSpPr/>
          <p:nvPr/>
        </p:nvSpPr>
        <p:spPr>
          <a:xfrm>
            <a:off x="6533418" y="3016257"/>
            <a:ext cx="1157684" cy="553998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定位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B81FC1AF-8AC0-309E-A892-8BA3349EC36C}"/>
              </a:ext>
            </a:extLst>
          </p:cNvPr>
          <p:cNvSpPr/>
          <p:nvPr/>
        </p:nvSpPr>
        <p:spPr>
          <a:xfrm>
            <a:off x="6533417" y="3689801"/>
            <a:ext cx="1157684" cy="553998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归类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04502C78-1543-F209-106B-BCBFD0D6E237}"/>
              </a:ext>
            </a:extLst>
          </p:cNvPr>
          <p:cNvSpPr/>
          <p:nvPr/>
        </p:nvSpPr>
        <p:spPr>
          <a:xfrm>
            <a:off x="6533418" y="4363344"/>
            <a:ext cx="1157684" cy="553998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效率</a:t>
            </a:r>
          </a:p>
        </p:txBody>
      </p:sp>
    </p:spTree>
    <p:extLst>
      <p:ext uri="{BB962C8B-B14F-4D97-AF65-F5344CB8AC3E}">
        <p14:creationId xmlns:p14="http://schemas.microsoft.com/office/powerpoint/2010/main" val="1501255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27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创新性</a:t>
            </a:r>
            <a:endParaRPr dirty="0"/>
          </a:p>
        </p:txBody>
      </p:sp>
      <p:sp>
        <p:nvSpPr>
          <p:cNvPr id="28" name="文本框 3"/>
          <p:cNvSpPr txBox="1"/>
          <p:nvPr/>
        </p:nvSpPr>
        <p:spPr>
          <a:xfrm>
            <a:off x="600634" y="1109012"/>
            <a:ext cx="7753657" cy="2301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体验的创新与提升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marL="285750" indent="-285750"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buFontTx/>
              <a:buChar char="-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群聊直达：订阅或转发即刻入收件箱，免复制粘贴，打开就能确认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marL="285750" indent="-285750"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buFontTx/>
              <a:buChar char="-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分层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AI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4b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先挡闲聊，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9b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再总结并补时间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/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地点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/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步骤，短通知也完整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marL="285750" indent="-285750"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buFontTx/>
              <a:buChar char="-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确认闸：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AI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只做草稿，点“保留”才落库，把自动建任务变成用户拍板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marL="285750" indent="-285750"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buFontTx/>
              <a:buChar char="-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双视图联动：同一任务列表按天看、板板按时间轴看，切换不丢上下文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marL="285750" indent="-285750"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buFontTx/>
              <a:buChar char="-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自动补全：标题、时间、地点、步骤、标签一次填好，确认前少手输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marL="285750" indent="-285750"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buFontTx/>
              <a:buChar char="-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状态可恢复：离线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/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同步状态、提醒上限提示、导入导出，换机不丢任务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sp>
        <p:nvSpPr>
          <p:cNvPr id="29" name="文本框 4"/>
          <p:cNvSpPr txBox="1"/>
          <p:nvPr/>
        </p:nvSpPr>
        <p:spPr>
          <a:xfrm>
            <a:off x="600634" y="3923929"/>
            <a:ext cx="9466079" cy="1661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接入的鸿蒙特性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marL="285750" indent="-285750"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buFontTx/>
              <a:buChar char="-"/>
            </a:pP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ArkUI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 + HDS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：统一标题、卡片、动效，流畅一致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marL="285750" indent="-285750"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buFontTx/>
              <a:buChar char="-"/>
            </a:pP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PushKit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：常驻后台，时刻都能推送新消息提醒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marL="285750" indent="-285750"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buFontTx/>
              <a:buChar char="-"/>
            </a:pP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CalendarKit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：提醒之外写系统日历，双通道兜底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marL="285750" indent="-285750"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buFontTx/>
              <a:buChar char="-"/>
            </a:pP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ShareKit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：图片分享直接进知了，少复制粘贴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63D862B-7440-E78F-68C7-78FE587080CF}"/>
              </a:ext>
            </a:extLst>
          </p:cNvPr>
          <p:cNvSpPr txBox="1"/>
          <p:nvPr/>
        </p:nvSpPr>
        <p:spPr>
          <a:xfrm>
            <a:off x="5823064" y="4252330"/>
            <a:ext cx="6180515" cy="1341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buFontTx/>
              <a:buChar char="-"/>
            </a:pP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BackgroundTasksKit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：到点提醒，完成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删除自动撤销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buFontTx/>
              <a:buChar char="-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CoreVisionKit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：图片在端侧识字，提取文字交给后端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buFontTx/>
              <a:buChar char="-"/>
            </a:pP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NaturalLanguageKit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：抽取时间和地点，实现预填表单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buFontTx/>
              <a:buChar char="-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全屏沉浸与安全区：状态栏、手势条、底部页签统一适配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32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商业价值</a:t>
            </a:r>
            <a:endParaRPr/>
          </a:p>
        </p:txBody>
      </p:sp>
      <p:sp>
        <p:nvSpPr>
          <p:cNvPr id="33" name="文本框 3"/>
          <p:cNvSpPr txBox="1"/>
          <p:nvPr/>
        </p:nvSpPr>
        <p:spPr>
          <a:xfrm>
            <a:off x="600634" y="1109012"/>
            <a:ext cx="10829366" cy="3902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用户范围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核心群体是高校学生，其次是有群消息整理需求的普通用户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计划先在单校进行验证，改进完善后再推广到其他高校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用户反馈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在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APP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内测阶段，大部分测试同学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商业潜力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marL="285750" indent="-285750"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buFontTx/>
              <a:buChar char="-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B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端：高校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/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书院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/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社团的校园信息助手，按组织订阅或服务费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marL="285750" indent="-285750"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buFontTx/>
              <a:buChar char="-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C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端：基础免费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+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增值（更多订阅群、个性化提醒、导出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/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同步）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marL="285750" indent="-285750"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buFontTx/>
              <a:buChar char="-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生态：与校园服务号、教务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/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活动平台合作，做信息入口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marL="285750" indent="-285750"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buFontTx/>
              <a:buChar char="-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卖点：自动化信息整理功能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&amp;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原文不存可删的隐私规则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36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Demo</a:t>
            </a:r>
            <a:endParaRPr lang="zh-CN" altLang="en-US" dirty="0"/>
          </a:p>
        </p:txBody>
      </p:sp>
      <p:pic>
        <p:nvPicPr>
          <p:cNvPr id="2" name="Distiller_Promo">
            <a:hlinkClick r:id="" action="ppaction://media"/>
            <a:extLst>
              <a:ext uri="{FF2B5EF4-FFF2-40B4-BE49-F238E27FC236}">
                <a16:creationId xmlns:a16="http://schemas.microsoft.com/office/drawing/2014/main" id="{8E062CD0-BD4A-31A7-5D63-BB94AF7DEE4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34798" y="893497"/>
            <a:ext cx="9221164" cy="5186904"/>
          </a:xfrm>
          <a:prstGeom prst="roundRect">
            <a:avLst>
              <a:gd name="adj" fmla="val 3501"/>
            </a:avLst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2F8DBBC-561E-94D3-0162-B7453397770E}"/>
              </a:ext>
            </a:extLst>
          </p:cNvPr>
          <p:cNvSpPr txBox="1"/>
          <p:nvPr/>
        </p:nvSpPr>
        <p:spPr>
          <a:xfrm>
            <a:off x="9981368" y="5495626"/>
            <a:ext cx="18758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600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宣传演示视频</a:t>
            </a:r>
          </a:p>
          <a:p>
            <a:pPr algn="r"/>
            <a:r>
              <a:rPr lang="zh-CN" altLang="en-US" sz="1600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知了</a:t>
            </a:r>
            <a:r>
              <a:rPr lang="en-US" altLang="zh-CN" sz="1600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·</a:t>
            </a:r>
            <a:r>
              <a:rPr lang="zh-CN" altLang="en-US" sz="1600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校园信息助手</a:t>
            </a:r>
            <a:endParaRPr lang="en-US" altLang="zh-CN" sz="1600" dirty="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A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8"/>
          <p:cNvSpPr txBox="1"/>
          <p:nvPr/>
        </p:nvSpPr>
        <p:spPr>
          <a:xfrm>
            <a:off x="3557237" y="1942121"/>
            <a:ext cx="507752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armonyOS Sans" panose="00000800000000000000" charset="0"/>
              </a:rPr>
              <a:t>谢  谢</a:t>
            </a:r>
            <a:endParaRPr kumimoji="0" lang="en-US" altLang="zh-CN" sz="6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HarmonyOS Sans" panose="00000800000000000000" charset="0"/>
            </a:endParaRPr>
          </a:p>
        </p:txBody>
      </p:sp>
      <p:sp>
        <p:nvSpPr>
          <p:cNvPr id="40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1205</Words>
  <Application>Microsoft Office PowerPoint</Application>
  <PresentationFormat>宽屏</PresentationFormat>
  <Paragraphs>127</Paragraphs>
  <Slides>12</Slides>
  <Notes>6</Notes>
  <HiddenSlides>0</HiddenSlides>
  <MMClips>1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Microsoft YaHei UI</vt:lpstr>
      <vt:lpstr>Microsoft YaHei UI Light</vt:lpstr>
      <vt:lpstr>Source Han Sans CN Normal</vt:lpstr>
      <vt:lpstr>等线</vt:lpstr>
      <vt:lpstr>微软雅黑</vt:lpstr>
      <vt:lpstr>Arial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酪酪肽 ‎</cp:lastModifiedBy>
  <cp:revision>148</cp:revision>
  <dcterms:created xsi:type="dcterms:W3CDTF">2026-10-26T18:48:06Z</dcterms:created>
  <dcterms:modified xsi:type="dcterms:W3CDTF">2026-10-31T13:32:36Z</dcterms:modified>
</cp:coreProperties>
</file>